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8" r:id="rId5"/>
    <p:sldId id="259" r:id="rId6"/>
    <p:sldId id="260" r:id="rId7"/>
    <p:sldId id="261" r:id="rId8"/>
    <p:sldId id="262" r:id="rId9"/>
    <p:sldId id="263" r:id="rId10"/>
    <p:sldId id="264" r:id="rId11"/>
    <p:sldId id="265" r:id="rId12"/>
    <p:sldId id="274" r:id="rId13"/>
    <p:sldId id="266" r:id="rId14"/>
    <p:sldId id="267" r:id="rId15"/>
    <p:sldId id="268"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7E204-1318-4E6A-8904-C44DE88133E6}" v="33" dt="2025-01-08T13:48:27.8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an K Eligeti" userId="0a3da611-1a40-4e58-a6c7-866fea88da14" providerId="ADAL" clId="{A7A7E204-1318-4E6A-8904-C44DE88133E6}"/>
    <pc:docChg chg="undo custSel addSld modSld">
      <pc:chgData name="Madan K Eligeti" userId="0a3da611-1a40-4e58-a6c7-866fea88da14" providerId="ADAL" clId="{A7A7E204-1318-4E6A-8904-C44DE88133E6}" dt="2025-01-08T14:01:26.883" v="900" actId="113"/>
      <pc:docMkLst>
        <pc:docMk/>
      </pc:docMkLst>
      <pc:sldChg chg="new">
        <pc:chgData name="Madan K Eligeti" userId="0a3da611-1a40-4e58-a6c7-866fea88da14" providerId="ADAL" clId="{A7A7E204-1318-4E6A-8904-C44DE88133E6}" dt="2025-01-02T07:28:21.938" v="0" actId="680"/>
        <pc:sldMkLst>
          <pc:docMk/>
          <pc:sldMk cId="180855375" sldId="256"/>
        </pc:sldMkLst>
      </pc:sldChg>
      <pc:sldChg chg="addSp modSp new mod">
        <pc:chgData name="Madan K Eligeti" userId="0a3da611-1a40-4e58-a6c7-866fea88da14" providerId="ADAL" clId="{A7A7E204-1318-4E6A-8904-C44DE88133E6}" dt="2025-01-02T07:29:27.829" v="24" actId="1076"/>
        <pc:sldMkLst>
          <pc:docMk/>
          <pc:sldMk cId="3047613534" sldId="257"/>
        </pc:sldMkLst>
        <pc:spChg chg="add mod">
          <ac:chgData name="Madan K Eligeti" userId="0a3da611-1a40-4e58-a6c7-866fea88da14" providerId="ADAL" clId="{A7A7E204-1318-4E6A-8904-C44DE88133E6}" dt="2025-01-02T07:28:48.073" v="6" actId="14100"/>
          <ac:spMkLst>
            <pc:docMk/>
            <pc:sldMk cId="3047613534" sldId="257"/>
            <ac:spMk id="3" creationId="{1E0759BB-DA1B-48D9-C7B0-0D8A95BB9C11}"/>
          </ac:spMkLst>
        </pc:spChg>
        <pc:spChg chg="add mod">
          <ac:chgData name="Madan K Eligeti" userId="0a3da611-1a40-4e58-a6c7-866fea88da14" providerId="ADAL" clId="{A7A7E204-1318-4E6A-8904-C44DE88133E6}" dt="2025-01-02T07:29:27.829" v="24" actId="1076"/>
          <ac:spMkLst>
            <pc:docMk/>
            <pc:sldMk cId="3047613534" sldId="257"/>
            <ac:spMk id="5" creationId="{56C0FAAE-7D87-29A6-BFD1-6F162AB3190D}"/>
          </ac:spMkLst>
        </pc:spChg>
      </pc:sldChg>
      <pc:sldChg chg="addSp modSp new mod">
        <pc:chgData name="Madan K Eligeti" userId="0a3da611-1a40-4e58-a6c7-866fea88da14" providerId="ADAL" clId="{A7A7E204-1318-4E6A-8904-C44DE88133E6}" dt="2025-01-02T07:31:12.377" v="32" actId="14100"/>
        <pc:sldMkLst>
          <pc:docMk/>
          <pc:sldMk cId="4273207249" sldId="258"/>
        </pc:sldMkLst>
        <pc:spChg chg="add mod">
          <ac:chgData name="Madan K Eligeti" userId="0a3da611-1a40-4e58-a6c7-866fea88da14" providerId="ADAL" clId="{A7A7E204-1318-4E6A-8904-C44DE88133E6}" dt="2025-01-02T07:31:07.656" v="31" actId="14100"/>
          <ac:spMkLst>
            <pc:docMk/>
            <pc:sldMk cId="4273207249" sldId="258"/>
            <ac:spMk id="3" creationId="{F241A098-4EEE-2244-775A-050790C5AD35}"/>
          </ac:spMkLst>
        </pc:spChg>
        <pc:spChg chg="add mod">
          <ac:chgData name="Madan K Eligeti" userId="0a3da611-1a40-4e58-a6c7-866fea88da14" providerId="ADAL" clId="{A7A7E204-1318-4E6A-8904-C44DE88133E6}" dt="2025-01-02T07:31:12.377" v="32" actId="14100"/>
          <ac:spMkLst>
            <pc:docMk/>
            <pc:sldMk cId="4273207249" sldId="258"/>
            <ac:spMk id="5" creationId="{5BB722C6-2F7F-DC27-2972-5A9AE3993137}"/>
          </ac:spMkLst>
        </pc:spChg>
      </pc:sldChg>
      <pc:sldChg chg="addSp modSp add mod">
        <pc:chgData name="Madan K Eligeti" userId="0a3da611-1a40-4e58-a6c7-866fea88da14" providerId="ADAL" clId="{A7A7E204-1318-4E6A-8904-C44DE88133E6}" dt="2025-01-02T07:32:47.865" v="38" actId="14100"/>
        <pc:sldMkLst>
          <pc:docMk/>
          <pc:sldMk cId="4015686895" sldId="259"/>
        </pc:sldMkLst>
        <pc:spChg chg="add mod">
          <ac:chgData name="Madan K Eligeti" userId="0a3da611-1a40-4e58-a6c7-866fea88da14" providerId="ADAL" clId="{A7A7E204-1318-4E6A-8904-C44DE88133E6}" dt="2025-01-02T07:31:43.565" v="35" actId="14100"/>
          <ac:spMkLst>
            <pc:docMk/>
            <pc:sldMk cId="4015686895" sldId="259"/>
            <ac:spMk id="3" creationId="{045C7297-7E6E-266C-6F3A-8E61DEE42E1A}"/>
          </ac:spMkLst>
        </pc:spChg>
        <pc:spChg chg="add mod">
          <ac:chgData name="Madan K Eligeti" userId="0a3da611-1a40-4e58-a6c7-866fea88da14" providerId="ADAL" clId="{A7A7E204-1318-4E6A-8904-C44DE88133E6}" dt="2025-01-02T07:32:47.865" v="38" actId="14100"/>
          <ac:spMkLst>
            <pc:docMk/>
            <pc:sldMk cId="4015686895" sldId="259"/>
            <ac:spMk id="5" creationId="{38DA3505-D55D-05CB-BC2A-6BA27C17E756}"/>
          </ac:spMkLst>
        </pc:spChg>
      </pc:sldChg>
      <pc:sldChg chg="addSp modSp add mod">
        <pc:chgData name="Madan K Eligeti" userId="0a3da611-1a40-4e58-a6c7-866fea88da14" providerId="ADAL" clId="{A7A7E204-1318-4E6A-8904-C44DE88133E6}" dt="2025-01-06T04:57:57.357" v="613" actId="33524"/>
        <pc:sldMkLst>
          <pc:docMk/>
          <pc:sldMk cId="2939738995" sldId="260"/>
        </pc:sldMkLst>
        <pc:spChg chg="add mod">
          <ac:chgData name="Madan K Eligeti" userId="0a3da611-1a40-4e58-a6c7-866fea88da14" providerId="ADAL" clId="{A7A7E204-1318-4E6A-8904-C44DE88133E6}" dt="2025-01-06T04:57:57.357" v="613" actId="33524"/>
          <ac:spMkLst>
            <pc:docMk/>
            <pc:sldMk cId="2939738995" sldId="260"/>
            <ac:spMk id="3" creationId="{848CC997-B990-2538-526D-8A84D96845C3}"/>
          </ac:spMkLst>
        </pc:spChg>
        <pc:spChg chg="add mod">
          <ac:chgData name="Madan K Eligeti" userId="0a3da611-1a40-4e58-a6c7-866fea88da14" providerId="ADAL" clId="{A7A7E204-1318-4E6A-8904-C44DE88133E6}" dt="2025-01-02T07:34:03.976" v="44" actId="14100"/>
          <ac:spMkLst>
            <pc:docMk/>
            <pc:sldMk cId="2939738995" sldId="260"/>
            <ac:spMk id="5" creationId="{34C962D0-593E-9601-C1C3-D033CF569ACC}"/>
          </ac:spMkLst>
        </pc:spChg>
      </pc:sldChg>
      <pc:sldChg chg="addSp modSp add mod">
        <pc:chgData name="Madan K Eligeti" userId="0a3da611-1a40-4e58-a6c7-866fea88da14" providerId="ADAL" clId="{A7A7E204-1318-4E6A-8904-C44DE88133E6}" dt="2025-01-02T07:36:56.903" v="57" actId="1076"/>
        <pc:sldMkLst>
          <pc:docMk/>
          <pc:sldMk cId="1037711539" sldId="261"/>
        </pc:sldMkLst>
        <pc:spChg chg="add mod">
          <ac:chgData name="Madan K Eligeti" userId="0a3da611-1a40-4e58-a6c7-866fea88da14" providerId="ADAL" clId="{A7A7E204-1318-4E6A-8904-C44DE88133E6}" dt="2025-01-02T07:36:56.903" v="57" actId="1076"/>
          <ac:spMkLst>
            <pc:docMk/>
            <pc:sldMk cId="1037711539" sldId="261"/>
            <ac:spMk id="3" creationId="{C345E2F8-9B45-6E8F-5C5E-60662DE6212F}"/>
          </ac:spMkLst>
        </pc:spChg>
        <pc:spChg chg="add mod">
          <ac:chgData name="Madan K Eligeti" userId="0a3da611-1a40-4e58-a6c7-866fea88da14" providerId="ADAL" clId="{A7A7E204-1318-4E6A-8904-C44DE88133E6}" dt="2025-01-02T07:36:52.421" v="56" actId="1076"/>
          <ac:spMkLst>
            <pc:docMk/>
            <pc:sldMk cId="1037711539" sldId="261"/>
            <ac:spMk id="5" creationId="{AF554BF3-FB02-7357-928F-1618B8C3B5A5}"/>
          </ac:spMkLst>
        </pc:spChg>
        <pc:spChg chg="add mod">
          <ac:chgData name="Madan K Eligeti" userId="0a3da611-1a40-4e58-a6c7-866fea88da14" providerId="ADAL" clId="{A7A7E204-1318-4E6A-8904-C44DE88133E6}" dt="2025-01-02T07:36:46.422" v="55" actId="14100"/>
          <ac:spMkLst>
            <pc:docMk/>
            <pc:sldMk cId="1037711539" sldId="261"/>
            <ac:spMk id="7" creationId="{52CAA8A5-D20A-2228-2979-F43BB60BF746}"/>
          </ac:spMkLst>
        </pc:spChg>
      </pc:sldChg>
      <pc:sldChg chg="addSp modSp add mod">
        <pc:chgData name="Madan K Eligeti" userId="0a3da611-1a40-4e58-a6c7-866fea88da14" providerId="ADAL" clId="{A7A7E204-1318-4E6A-8904-C44DE88133E6}" dt="2025-01-02T07:39:38.795" v="68" actId="1076"/>
        <pc:sldMkLst>
          <pc:docMk/>
          <pc:sldMk cId="129835864" sldId="262"/>
        </pc:sldMkLst>
        <pc:spChg chg="add mod">
          <ac:chgData name="Madan K Eligeti" userId="0a3da611-1a40-4e58-a6c7-866fea88da14" providerId="ADAL" clId="{A7A7E204-1318-4E6A-8904-C44DE88133E6}" dt="2025-01-02T07:38:03.623" v="60" actId="14100"/>
          <ac:spMkLst>
            <pc:docMk/>
            <pc:sldMk cId="129835864" sldId="262"/>
            <ac:spMk id="3" creationId="{EBD6119F-F45A-8502-E5F6-307CFD3669FB}"/>
          </ac:spMkLst>
        </pc:spChg>
        <pc:spChg chg="add mod">
          <ac:chgData name="Madan K Eligeti" userId="0a3da611-1a40-4e58-a6c7-866fea88da14" providerId="ADAL" clId="{A7A7E204-1318-4E6A-8904-C44DE88133E6}" dt="2025-01-02T07:39:35.185" v="67" actId="1076"/>
          <ac:spMkLst>
            <pc:docMk/>
            <pc:sldMk cId="129835864" sldId="262"/>
            <ac:spMk id="5" creationId="{DAAEF8D7-8D25-E7F8-3298-5CB8778D46AE}"/>
          </ac:spMkLst>
        </pc:spChg>
        <pc:spChg chg="add mod">
          <ac:chgData name="Madan K Eligeti" userId="0a3da611-1a40-4e58-a6c7-866fea88da14" providerId="ADAL" clId="{A7A7E204-1318-4E6A-8904-C44DE88133E6}" dt="2025-01-02T07:39:38.795" v="68" actId="1076"/>
          <ac:spMkLst>
            <pc:docMk/>
            <pc:sldMk cId="129835864" sldId="262"/>
            <ac:spMk id="7" creationId="{1717538C-57B5-8DDB-5C39-99CCA91AE2F4}"/>
          </ac:spMkLst>
        </pc:spChg>
      </pc:sldChg>
      <pc:sldChg chg="addSp delSp modSp add mod setBg">
        <pc:chgData name="Madan K Eligeti" userId="0a3da611-1a40-4e58-a6c7-866fea88da14" providerId="ADAL" clId="{A7A7E204-1318-4E6A-8904-C44DE88133E6}" dt="2025-01-08T12:47:42.004" v="645" actId="22"/>
        <pc:sldMkLst>
          <pc:docMk/>
          <pc:sldMk cId="2645209385" sldId="263"/>
        </pc:sldMkLst>
        <pc:spChg chg="add mod">
          <ac:chgData name="Madan K Eligeti" userId="0a3da611-1a40-4e58-a6c7-866fea88da14" providerId="ADAL" clId="{A7A7E204-1318-4E6A-8904-C44DE88133E6}" dt="2025-01-03T06:44:21.700" v="75" actId="1076"/>
          <ac:spMkLst>
            <pc:docMk/>
            <pc:sldMk cId="2645209385" sldId="263"/>
            <ac:spMk id="3" creationId="{18E01208-42BC-99BB-670E-DFC815266A35}"/>
          </ac:spMkLst>
        </pc:spChg>
        <pc:picChg chg="add">
          <ac:chgData name="Madan K Eligeti" userId="0a3da611-1a40-4e58-a6c7-866fea88da14" providerId="ADAL" clId="{A7A7E204-1318-4E6A-8904-C44DE88133E6}" dt="2025-01-08T12:47:42.004" v="645" actId="22"/>
          <ac:picMkLst>
            <pc:docMk/>
            <pc:sldMk cId="2645209385" sldId="263"/>
            <ac:picMk id="5" creationId="{5E5A5A28-11C0-9070-34B3-409FD72196AC}"/>
          </ac:picMkLst>
        </pc:picChg>
        <pc:picChg chg="add del mod">
          <ac:chgData name="Madan K Eligeti" userId="0a3da611-1a40-4e58-a6c7-866fea88da14" providerId="ADAL" clId="{A7A7E204-1318-4E6A-8904-C44DE88133E6}" dt="2025-01-08T12:47:40.792" v="644" actId="478"/>
          <ac:picMkLst>
            <pc:docMk/>
            <pc:sldMk cId="2645209385" sldId="263"/>
            <ac:picMk id="1026" creationId="{9EA709DB-D4E7-B3D9-CF37-944AAA979F87}"/>
          </ac:picMkLst>
        </pc:picChg>
      </pc:sldChg>
      <pc:sldChg chg="addSp modSp add mod">
        <pc:chgData name="Madan K Eligeti" userId="0a3da611-1a40-4e58-a6c7-866fea88da14" providerId="ADAL" clId="{A7A7E204-1318-4E6A-8904-C44DE88133E6}" dt="2025-01-03T06:55:56.240" v="568" actId="1076"/>
        <pc:sldMkLst>
          <pc:docMk/>
          <pc:sldMk cId="1785838883" sldId="264"/>
        </pc:sldMkLst>
        <pc:spChg chg="add mod">
          <ac:chgData name="Madan K Eligeti" userId="0a3da611-1a40-4e58-a6c7-866fea88da14" providerId="ADAL" clId="{A7A7E204-1318-4E6A-8904-C44DE88133E6}" dt="2025-01-03T06:55:52.957" v="567" actId="1076"/>
          <ac:spMkLst>
            <pc:docMk/>
            <pc:sldMk cId="1785838883" sldId="264"/>
            <ac:spMk id="3" creationId="{4E659904-957E-4745-620A-2AACAEFBD55E}"/>
          </ac:spMkLst>
        </pc:spChg>
        <pc:spChg chg="add mod">
          <ac:chgData name="Madan K Eligeti" userId="0a3da611-1a40-4e58-a6c7-866fea88da14" providerId="ADAL" clId="{A7A7E204-1318-4E6A-8904-C44DE88133E6}" dt="2025-01-03T06:55:56.240" v="568" actId="1076"/>
          <ac:spMkLst>
            <pc:docMk/>
            <pc:sldMk cId="1785838883" sldId="264"/>
            <ac:spMk id="5" creationId="{2AD8D9F8-E229-F50F-810A-197BEA1F2964}"/>
          </ac:spMkLst>
        </pc:spChg>
      </pc:sldChg>
      <pc:sldChg chg="addSp modSp add mod">
        <pc:chgData name="Madan K Eligeti" userId="0a3da611-1a40-4e58-a6c7-866fea88da14" providerId="ADAL" clId="{A7A7E204-1318-4E6A-8904-C44DE88133E6}" dt="2025-01-06T04:57:16.926" v="612" actId="313"/>
        <pc:sldMkLst>
          <pc:docMk/>
          <pc:sldMk cId="3202477789" sldId="265"/>
        </pc:sldMkLst>
        <pc:spChg chg="add mod">
          <ac:chgData name="Madan K Eligeti" userId="0a3da611-1a40-4e58-a6c7-866fea88da14" providerId="ADAL" clId="{A7A7E204-1318-4E6A-8904-C44DE88133E6}" dt="2025-01-06T04:57:16.926" v="612" actId="313"/>
          <ac:spMkLst>
            <pc:docMk/>
            <pc:sldMk cId="3202477789" sldId="265"/>
            <ac:spMk id="2" creationId="{3A9EA79E-4694-EDBE-1D7B-B203BDDD599E}"/>
          </ac:spMkLst>
        </pc:spChg>
        <pc:graphicFrameChg chg="add mod">
          <ac:chgData name="Madan K Eligeti" userId="0a3da611-1a40-4e58-a6c7-866fea88da14" providerId="ADAL" clId="{A7A7E204-1318-4E6A-8904-C44DE88133E6}" dt="2025-01-03T07:16:39.533" v="592" actId="1076"/>
          <ac:graphicFrameMkLst>
            <pc:docMk/>
            <pc:sldMk cId="3202477789" sldId="265"/>
            <ac:graphicFrameMk id="3" creationId="{A29FB294-4757-1CE3-98F9-31045BCE21F0}"/>
          </ac:graphicFrameMkLst>
        </pc:graphicFrameChg>
        <pc:graphicFrameChg chg="add mod">
          <ac:chgData name="Madan K Eligeti" userId="0a3da611-1a40-4e58-a6c7-866fea88da14" providerId="ADAL" clId="{A7A7E204-1318-4E6A-8904-C44DE88133E6}" dt="2025-01-03T07:17:13.062" v="601" actId="1076"/>
          <ac:graphicFrameMkLst>
            <pc:docMk/>
            <pc:sldMk cId="3202477789" sldId="265"/>
            <ac:graphicFrameMk id="4" creationId="{A29FB294-4757-1CE3-98F9-31045BCE21F0}"/>
          </ac:graphicFrameMkLst>
        </pc:graphicFrameChg>
      </pc:sldChg>
      <pc:sldChg chg="addSp modSp add mod">
        <pc:chgData name="Madan K Eligeti" userId="0a3da611-1a40-4e58-a6c7-866fea88da14" providerId="ADAL" clId="{A7A7E204-1318-4E6A-8904-C44DE88133E6}" dt="2025-01-03T07:10:39.236" v="581" actId="1076"/>
        <pc:sldMkLst>
          <pc:docMk/>
          <pc:sldMk cId="1975161976" sldId="266"/>
        </pc:sldMkLst>
        <pc:spChg chg="add mod">
          <ac:chgData name="Madan K Eligeti" userId="0a3da611-1a40-4e58-a6c7-866fea88da14" providerId="ADAL" clId="{A7A7E204-1318-4E6A-8904-C44DE88133E6}" dt="2025-01-03T07:10:39.236" v="581" actId="1076"/>
          <ac:spMkLst>
            <pc:docMk/>
            <pc:sldMk cId="1975161976" sldId="266"/>
            <ac:spMk id="3" creationId="{4FF93012-352F-B43A-ACCB-21F74875922D}"/>
          </ac:spMkLst>
        </pc:spChg>
      </pc:sldChg>
      <pc:sldChg chg="addSp modSp add mod">
        <pc:chgData name="Madan K Eligeti" userId="0a3da611-1a40-4e58-a6c7-866fea88da14" providerId="ADAL" clId="{A7A7E204-1318-4E6A-8904-C44DE88133E6}" dt="2025-01-08T12:12:19.340" v="618" actId="14100"/>
        <pc:sldMkLst>
          <pc:docMk/>
          <pc:sldMk cId="266921665" sldId="267"/>
        </pc:sldMkLst>
        <pc:spChg chg="add mod">
          <ac:chgData name="Madan K Eligeti" userId="0a3da611-1a40-4e58-a6c7-866fea88da14" providerId="ADAL" clId="{A7A7E204-1318-4E6A-8904-C44DE88133E6}" dt="2025-01-03T09:22:23.019" v="606" actId="113"/>
          <ac:spMkLst>
            <pc:docMk/>
            <pc:sldMk cId="266921665" sldId="267"/>
            <ac:spMk id="3" creationId="{4776E881-4D4E-6272-8CBE-59CACB032057}"/>
          </ac:spMkLst>
        </pc:spChg>
        <pc:spChg chg="add mod">
          <ac:chgData name="Madan K Eligeti" userId="0a3da611-1a40-4e58-a6c7-866fea88da14" providerId="ADAL" clId="{A7A7E204-1318-4E6A-8904-C44DE88133E6}" dt="2025-01-03T09:35:09.792" v="610" actId="14100"/>
          <ac:spMkLst>
            <pc:docMk/>
            <pc:sldMk cId="266921665" sldId="267"/>
            <ac:spMk id="5" creationId="{67D5A339-1AE0-1E34-6991-BAC562E44DD4}"/>
          </ac:spMkLst>
        </pc:spChg>
        <pc:spChg chg="add mod">
          <ac:chgData name="Madan K Eligeti" userId="0a3da611-1a40-4e58-a6c7-866fea88da14" providerId="ADAL" clId="{A7A7E204-1318-4E6A-8904-C44DE88133E6}" dt="2025-01-08T12:12:19.340" v="618" actId="14100"/>
          <ac:spMkLst>
            <pc:docMk/>
            <pc:sldMk cId="266921665" sldId="267"/>
            <ac:spMk id="7" creationId="{8545FAF0-C9FD-2B53-EFDD-8CC6F1BA4F27}"/>
          </ac:spMkLst>
        </pc:spChg>
      </pc:sldChg>
      <pc:sldChg chg="addSp modSp add mod">
        <pc:chgData name="Madan K Eligeti" userId="0a3da611-1a40-4e58-a6c7-866fea88da14" providerId="ADAL" clId="{A7A7E204-1318-4E6A-8904-C44DE88133E6}" dt="2025-01-08T12:19:30.313" v="633" actId="113"/>
        <pc:sldMkLst>
          <pc:docMk/>
          <pc:sldMk cId="775090110" sldId="268"/>
        </pc:sldMkLst>
        <pc:spChg chg="add mod">
          <ac:chgData name="Madan K Eligeti" userId="0a3da611-1a40-4e58-a6c7-866fea88da14" providerId="ADAL" clId="{A7A7E204-1318-4E6A-8904-C44DE88133E6}" dt="2025-01-08T12:19:30.313" v="633" actId="113"/>
          <ac:spMkLst>
            <pc:docMk/>
            <pc:sldMk cId="775090110" sldId="268"/>
            <ac:spMk id="3" creationId="{2138435A-F378-A3A2-1A67-738B3462A8D3}"/>
          </ac:spMkLst>
        </pc:spChg>
        <pc:spChg chg="add mod">
          <ac:chgData name="Madan K Eligeti" userId="0a3da611-1a40-4e58-a6c7-866fea88da14" providerId="ADAL" clId="{A7A7E204-1318-4E6A-8904-C44DE88133E6}" dt="2025-01-08T12:18:12.629" v="626" actId="1076"/>
          <ac:spMkLst>
            <pc:docMk/>
            <pc:sldMk cId="775090110" sldId="268"/>
            <ac:spMk id="5" creationId="{5927C8C9-882B-88FB-24A4-856DEA1319F3}"/>
          </ac:spMkLst>
        </pc:spChg>
        <pc:spChg chg="add mod">
          <ac:chgData name="Madan K Eligeti" userId="0a3da611-1a40-4e58-a6c7-866fea88da14" providerId="ADAL" clId="{A7A7E204-1318-4E6A-8904-C44DE88133E6}" dt="2025-01-08T12:19:13.277" v="631" actId="1076"/>
          <ac:spMkLst>
            <pc:docMk/>
            <pc:sldMk cId="775090110" sldId="268"/>
            <ac:spMk id="7" creationId="{C2A01C20-3AE5-0406-6A53-2623D83A0513}"/>
          </ac:spMkLst>
        </pc:spChg>
      </pc:sldChg>
      <pc:sldChg chg="addSp modSp add mod">
        <pc:chgData name="Madan K Eligeti" userId="0a3da611-1a40-4e58-a6c7-866fea88da14" providerId="ADAL" clId="{A7A7E204-1318-4E6A-8904-C44DE88133E6}" dt="2025-01-08T12:22:58.264" v="643" actId="14100"/>
        <pc:sldMkLst>
          <pc:docMk/>
          <pc:sldMk cId="2040973965" sldId="269"/>
        </pc:sldMkLst>
        <pc:spChg chg="add mod">
          <ac:chgData name="Madan K Eligeti" userId="0a3da611-1a40-4e58-a6c7-866fea88da14" providerId="ADAL" clId="{A7A7E204-1318-4E6A-8904-C44DE88133E6}" dt="2025-01-08T12:20:34.278" v="635" actId="1076"/>
          <ac:spMkLst>
            <pc:docMk/>
            <pc:sldMk cId="2040973965" sldId="269"/>
            <ac:spMk id="3" creationId="{B6503413-5B5D-9EA8-2D74-CE8C5EE63D0B}"/>
          </ac:spMkLst>
        </pc:spChg>
        <pc:spChg chg="add mod">
          <ac:chgData name="Madan K Eligeti" userId="0a3da611-1a40-4e58-a6c7-866fea88da14" providerId="ADAL" clId="{A7A7E204-1318-4E6A-8904-C44DE88133E6}" dt="2025-01-08T12:21:47.407" v="638" actId="14100"/>
          <ac:spMkLst>
            <pc:docMk/>
            <pc:sldMk cId="2040973965" sldId="269"/>
            <ac:spMk id="5" creationId="{258BF124-4ADD-233D-D36B-710AE86A30F2}"/>
          </ac:spMkLst>
        </pc:spChg>
        <pc:spChg chg="add mod">
          <ac:chgData name="Madan K Eligeti" userId="0a3da611-1a40-4e58-a6c7-866fea88da14" providerId="ADAL" clId="{A7A7E204-1318-4E6A-8904-C44DE88133E6}" dt="2025-01-08T12:22:06.250" v="640" actId="1076"/>
          <ac:spMkLst>
            <pc:docMk/>
            <pc:sldMk cId="2040973965" sldId="269"/>
            <ac:spMk id="7" creationId="{A16194E9-4068-9A53-909F-C55D482FD34E}"/>
          </ac:spMkLst>
        </pc:spChg>
        <pc:spChg chg="add mod">
          <ac:chgData name="Madan K Eligeti" userId="0a3da611-1a40-4e58-a6c7-866fea88da14" providerId="ADAL" clId="{A7A7E204-1318-4E6A-8904-C44DE88133E6}" dt="2025-01-08T12:22:58.264" v="643" actId="14100"/>
          <ac:spMkLst>
            <pc:docMk/>
            <pc:sldMk cId="2040973965" sldId="269"/>
            <ac:spMk id="9" creationId="{9BEAF095-B8B5-CD92-5AC0-5FEDD47862A3}"/>
          </ac:spMkLst>
        </pc:spChg>
      </pc:sldChg>
      <pc:sldChg chg="addSp delSp modSp add mod setBg">
        <pc:chgData name="Madan K Eligeti" userId="0a3da611-1a40-4e58-a6c7-866fea88da14" providerId="ADAL" clId="{A7A7E204-1318-4E6A-8904-C44DE88133E6}" dt="2025-01-08T13:42:30.262" v="658" actId="21"/>
        <pc:sldMkLst>
          <pc:docMk/>
          <pc:sldMk cId="1366751840" sldId="270"/>
        </pc:sldMkLst>
        <pc:spChg chg="add del">
          <ac:chgData name="Madan K Eligeti" userId="0a3da611-1a40-4e58-a6c7-866fea88da14" providerId="ADAL" clId="{A7A7E204-1318-4E6A-8904-C44DE88133E6}" dt="2025-01-08T13:41:55.289" v="647" actId="478"/>
          <ac:spMkLst>
            <pc:docMk/>
            <pc:sldMk cId="1366751840" sldId="270"/>
            <ac:spMk id="2" creationId="{B951B64D-8A65-D383-BAEB-CBAB1D23551E}"/>
          </ac:spMkLst>
        </pc:spChg>
        <pc:spChg chg="add mod">
          <ac:chgData name="Madan K Eligeti" userId="0a3da611-1a40-4e58-a6c7-866fea88da14" providerId="ADAL" clId="{A7A7E204-1318-4E6A-8904-C44DE88133E6}" dt="2025-01-08T13:42:08.204" v="652" actId="20577"/>
          <ac:spMkLst>
            <pc:docMk/>
            <pc:sldMk cId="1366751840" sldId="270"/>
            <ac:spMk id="3" creationId="{AA7EA223-9314-E734-40B8-99612396B642}"/>
          </ac:spMkLst>
        </pc:spChg>
        <pc:spChg chg="add mod ord">
          <ac:chgData name="Madan K Eligeti" userId="0a3da611-1a40-4e58-a6c7-866fea88da14" providerId="ADAL" clId="{A7A7E204-1318-4E6A-8904-C44DE88133E6}" dt="2025-01-08T13:42:30.262" v="658" actId="21"/>
          <ac:spMkLst>
            <pc:docMk/>
            <pc:sldMk cId="1366751840" sldId="270"/>
            <ac:spMk id="4" creationId="{C7D5CE2C-3CEF-1C99-CF36-487928AEF51E}"/>
          </ac:spMkLst>
        </pc:spChg>
        <pc:spChg chg="add del">
          <ac:chgData name="Madan K Eligeti" userId="0a3da611-1a40-4e58-a6c7-866fea88da14" providerId="ADAL" clId="{A7A7E204-1318-4E6A-8904-C44DE88133E6}" dt="2025-01-08T13:42:16.082" v="655" actId="26606"/>
          <ac:spMkLst>
            <pc:docMk/>
            <pc:sldMk cId="1366751840" sldId="270"/>
            <ac:spMk id="4107" creationId="{2EB492CD-616E-47F8-933B-5E2D952A0593}"/>
          </ac:spMkLst>
        </pc:spChg>
        <pc:spChg chg="add del">
          <ac:chgData name="Madan K Eligeti" userId="0a3da611-1a40-4e58-a6c7-866fea88da14" providerId="ADAL" clId="{A7A7E204-1318-4E6A-8904-C44DE88133E6}" dt="2025-01-08T13:42:16.082" v="655" actId="26606"/>
          <ac:spMkLst>
            <pc:docMk/>
            <pc:sldMk cId="1366751840" sldId="270"/>
            <ac:spMk id="4109" creationId="{59383CF9-23B5-4335-9B21-1791C4CF1C75}"/>
          </ac:spMkLst>
        </pc:spChg>
        <pc:spChg chg="add del">
          <ac:chgData name="Madan K Eligeti" userId="0a3da611-1a40-4e58-a6c7-866fea88da14" providerId="ADAL" clId="{A7A7E204-1318-4E6A-8904-C44DE88133E6}" dt="2025-01-08T13:42:16.082" v="655" actId="26606"/>
          <ac:spMkLst>
            <pc:docMk/>
            <pc:sldMk cId="1366751840" sldId="270"/>
            <ac:spMk id="4111" creationId="{0007FE00-9498-4706-B255-6437B0252C02}"/>
          </ac:spMkLst>
        </pc:spChg>
        <pc:spChg chg="add">
          <ac:chgData name="Madan K Eligeti" userId="0a3da611-1a40-4e58-a6c7-866fea88da14" providerId="ADAL" clId="{A7A7E204-1318-4E6A-8904-C44DE88133E6}" dt="2025-01-08T13:42:16.093" v="656" actId="26606"/>
          <ac:spMkLst>
            <pc:docMk/>
            <pc:sldMk cId="1366751840" sldId="270"/>
            <ac:spMk id="4113" creationId="{2B97F24A-32CE-4C1C-A50D-3016B394DCFB}"/>
          </ac:spMkLst>
        </pc:spChg>
        <pc:spChg chg="add">
          <ac:chgData name="Madan K Eligeti" userId="0a3da611-1a40-4e58-a6c7-866fea88da14" providerId="ADAL" clId="{A7A7E204-1318-4E6A-8904-C44DE88133E6}" dt="2025-01-08T13:42:16.093" v="656" actId="26606"/>
          <ac:spMkLst>
            <pc:docMk/>
            <pc:sldMk cId="1366751840" sldId="270"/>
            <ac:spMk id="4114" creationId="{CD8B4F24-440B-49E9-B85D-733523DC064B}"/>
          </ac:spMkLst>
        </pc:spChg>
        <pc:picChg chg="add del">
          <ac:chgData name="Madan K Eligeti" userId="0a3da611-1a40-4e58-a6c7-866fea88da14" providerId="ADAL" clId="{A7A7E204-1318-4E6A-8904-C44DE88133E6}" dt="2025-01-08T13:41:55.289" v="647" actId="478"/>
          <ac:picMkLst>
            <pc:docMk/>
            <pc:sldMk cId="1366751840" sldId="270"/>
            <ac:picMk id="4098" creationId="{BD7C1362-778B-98A4-F470-5EAF484BAF85}"/>
          </ac:picMkLst>
        </pc:picChg>
        <pc:picChg chg="add">
          <ac:chgData name="Madan K Eligeti" userId="0a3da611-1a40-4e58-a6c7-866fea88da14" providerId="ADAL" clId="{A7A7E204-1318-4E6A-8904-C44DE88133E6}" dt="2025-01-08T13:41:59.332" v="648"/>
          <ac:picMkLst>
            <pc:docMk/>
            <pc:sldMk cId="1366751840" sldId="270"/>
            <ac:picMk id="4100" creationId="{E6D162E0-AD48-9D97-C407-41DE24990DCD}"/>
          </ac:picMkLst>
        </pc:picChg>
        <pc:picChg chg="add del mod">
          <ac:chgData name="Madan K Eligeti" userId="0a3da611-1a40-4e58-a6c7-866fea88da14" providerId="ADAL" clId="{A7A7E204-1318-4E6A-8904-C44DE88133E6}" dt="2025-01-08T13:42:21.896" v="657" actId="478"/>
          <ac:picMkLst>
            <pc:docMk/>
            <pc:sldMk cId="1366751840" sldId="270"/>
            <ac:picMk id="4102" creationId="{401E8560-B314-522E-DAC8-08947F797232}"/>
          </ac:picMkLst>
        </pc:picChg>
      </pc:sldChg>
      <pc:sldChg chg="addSp modSp add mod">
        <pc:chgData name="Madan K Eligeti" userId="0a3da611-1a40-4e58-a6c7-866fea88da14" providerId="ADAL" clId="{A7A7E204-1318-4E6A-8904-C44DE88133E6}" dt="2025-01-08T13:50:01.287" v="878" actId="20577"/>
        <pc:sldMkLst>
          <pc:docMk/>
          <pc:sldMk cId="2207131814" sldId="271"/>
        </pc:sldMkLst>
        <pc:spChg chg="add mod">
          <ac:chgData name="Madan K Eligeti" userId="0a3da611-1a40-4e58-a6c7-866fea88da14" providerId="ADAL" clId="{A7A7E204-1318-4E6A-8904-C44DE88133E6}" dt="2025-01-08T13:43:03.082" v="663" actId="14100"/>
          <ac:spMkLst>
            <pc:docMk/>
            <pc:sldMk cId="2207131814" sldId="271"/>
            <ac:spMk id="3" creationId="{1EFF996D-0532-2A7B-7A07-7AF6A2C8F7AC}"/>
          </ac:spMkLst>
        </pc:spChg>
        <pc:spChg chg="add mod">
          <ac:chgData name="Madan K Eligeti" userId="0a3da611-1a40-4e58-a6c7-866fea88da14" providerId="ADAL" clId="{A7A7E204-1318-4E6A-8904-C44DE88133E6}" dt="2025-01-08T13:43:36.646" v="666" actId="1076"/>
          <ac:spMkLst>
            <pc:docMk/>
            <pc:sldMk cId="2207131814" sldId="271"/>
            <ac:spMk id="5" creationId="{27262CDD-71F6-426C-DB4B-6475E80C5A05}"/>
          </ac:spMkLst>
        </pc:spChg>
        <pc:spChg chg="add mod">
          <ac:chgData name="Madan K Eligeti" userId="0a3da611-1a40-4e58-a6c7-866fea88da14" providerId="ADAL" clId="{A7A7E204-1318-4E6A-8904-C44DE88133E6}" dt="2025-01-08T13:48:23.929" v="673" actId="1076"/>
          <ac:spMkLst>
            <pc:docMk/>
            <pc:sldMk cId="2207131814" sldId="271"/>
            <ac:spMk id="7" creationId="{AE3A78F5-4B92-A831-4F65-A628FDE4EA30}"/>
          </ac:spMkLst>
        </pc:spChg>
        <pc:spChg chg="add mod">
          <ac:chgData name="Madan K Eligeti" userId="0a3da611-1a40-4e58-a6c7-866fea88da14" providerId="ADAL" clId="{A7A7E204-1318-4E6A-8904-C44DE88133E6}" dt="2025-01-08T13:50:01.287" v="878" actId="20577"/>
          <ac:spMkLst>
            <pc:docMk/>
            <pc:sldMk cId="2207131814" sldId="271"/>
            <ac:spMk id="8" creationId="{E91ABF9E-7C65-3C1A-2D62-30CD9969CF93}"/>
          </ac:spMkLst>
        </pc:spChg>
      </pc:sldChg>
      <pc:sldChg chg="addSp modSp add mod">
        <pc:chgData name="Madan K Eligeti" userId="0a3da611-1a40-4e58-a6c7-866fea88da14" providerId="ADAL" clId="{A7A7E204-1318-4E6A-8904-C44DE88133E6}" dt="2025-01-08T14:01:26.883" v="900" actId="113"/>
        <pc:sldMkLst>
          <pc:docMk/>
          <pc:sldMk cId="3581005354" sldId="272"/>
        </pc:sldMkLst>
        <pc:spChg chg="add mod">
          <ac:chgData name="Madan K Eligeti" userId="0a3da611-1a40-4e58-a6c7-866fea88da14" providerId="ADAL" clId="{A7A7E204-1318-4E6A-8904-C44DE88133E6}" dt="2025-01-08T14:01:26.883" v="900" actId="113"/>
          <ac:spMkLst>
            <pc:docMk/>
            <pc:sldMk cId="3581005354" sldId="272"/>
            <ac:spMk id="3" creationId="{1F62B98C-249E-F00E-D7D1-52CBF4F6760F}"/>
          </ac:spMkLst>
        </pc:spChg>
      </pc:sldChg>
      <pc:sldChg chg="addSp modSp new mod setBg">
        <pc:chgData name="Madan K Eligeti" userId="0a3da611-1a40-4e58-a6c7-866fea88da14" providerId="ADAL" clId="{A7A7E204-1318-4E6A-8904-C44DE88133E6}" dt="2025-01-03T07:13:18.659" v="584" actId="26606"/>
        <pc:sldMkLst>
          <pc:docMk/>
          <pc:sldMk cId="1408787745" sldId="273"/>
        </pc:sldMkLst>
        <pc:graphicFrameChg chg="add mod modGraphic">
          <ac:chgData name="Madan K Eligeti" userId="0a3da611-1a40-4e58-a6c7-866fea88da14" providerId="ADAL" clId="{A7A7E204-1318-4E6A-8904-C44DE88133E6}" dt="2025-01-03T07:13:18.659" v="584" actId="26606"/>
          <ac:graphicFrameMkLst>
            <pc:docMk/>
            <pc:sldMk cId="1408787745" sldId="273"/>
            <ac:graphicFrameMk id="2" creationId="{D28D089D-3DEC-DCF6-6470-A90C6C72A2B7}"/>
          </ac:graphicFrameMkLst>
        </pc:graphicFrameChg>
      </pc:sldChg>
      <pc:sldChg chg="addSp delSp modSp new mod">
        <pc:chgData name="Madan K Eligeti" userId="0a3da611-1a40-4e58-a6c7-866fea88da14" providerId="ADAL" clId="{A7A7E204-1318-4E6A-8904-C44DE88133E6}" dt="2025-01-03T07:17:18.759" v="603" actId="14100"/>
        <pc:sldMkLst>
          <pc:docMk/>
          <pc:sldMk cId="3631570998" sldId="274"/>
        </pc:sldMkLst>
        <pc:graphicFrameChg chg="add del mod modGraphic">
          <ac:chgData name="Madan K Eligeti" userId="0a3da611-1a40-4e58-a6c7-866fea88da14" providerId="ADAL" clId="{A7A7E204-1318-4E6A-8904-C44DE88133E6}" dt="2025-01-03T07:17:18.759" v="603" actId="14100"/>
          <ac:graphicFrameMkLst>
            <pc:docMk/>
            <pc:sldMk cId="3631570998" sldId="274"/>
            <ac:graphicFrameMk id="2" creationId="{A29FB294-4757-1CE3-98F9-31045BCE21F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E9AD-9797-13A3-EE77-41421C984B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3C9908-8885-A9A6-0C77-C771F6D26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F76060-90B5-D1D8-3861-9F94A2E55966}"/>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F94782AD-653B-8FBD-D237-369C75DDC6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B88D99-EA60-DE1A-11BF-6F0E2EC5AE9E}"/>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420988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1D50-415B-AF6C-3320-985E05485D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050EDC-58D2-4285-14B7-AAF90F6131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D6AE03-1361-77BE-7E65-BB5C25AD64B0}"/>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CFCCD620-AF41-FB8F-0553-ADE81A37A6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287100-FE0F-B48E-7A72-EC919108C072}"/>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2207853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C987-1772-BAC1-7FA5-01FD3D31A1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6E538C-C6E2-8D1A-21D1-9CF5CCE774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71B72E-6D6D-B516-7D16-620578209C31}"/>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842112E6-777B-C496-71FF-79A8E6F3D9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D31347-9006-C56C-1056-AE48A1039513}"/>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2675718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3BE3-1355-7D6B-54FF-DD91B07E59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7F1728-D75F-FD1F-C409-0FABFCD1B9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F5B41B-DA09-D7A3-3A3F-014EC41DD9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99E329-2204-898D-BA55-2FFFE9C77AEF}"/>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6" name="Footer Placeholder 5">
            <a:extLst>
              <a:ext uri="{FF2B5EF4-FFF2-40B4-BE49-F238E27FC236}">
                <a16:creationId xmlns:a16="http://schemas.microsoft.com/office/drawing/2014/main" id="{100D73C4-D36B-AF5B-55F9-D51DD5B65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A06A48-0A61-95A0-C9CB-593FC3885A00}"/>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141698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4C64-2D3F-7865-9B41-4988ACF41B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E09B68-021F-FAE7-1E4E-BF355C6B56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A4CFB2-EAAE-B0C9-7BBB-BDF2650E32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873518-B052-F980-743A-44C0892AE2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E2A5B-F8EA-64C1-6E12-3C081F85D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CBA7C8-0643-94A2-D5F8-58CE2D1E2FCC}"/>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8" name="Footer Placeholder 7">
            <a:extLst>
              <a:ext uri="{FF2B5EF4-FFF2-40B4-BE49-F238E27FC236}">
                <a16:creationId xmlns:a16="http://schemas.microsoft.com/office/drawing/2014/main" id="{F66C6A7D-D59B-5263-7271-F7DB36F012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E4F00E-4813-7817-44DF-33B81D674F37}"/>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352628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DB33-786D-6461-FF86-C340E1EB2B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4193BB-76FF-96B5-C65A-84400DC37AFE}"/>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4" name="Footer Placeholder 3">
            <a:extLst>
              <a:ext uri="{FF2B5EF4-FFF2-40B4-BE49-F238E27FC236}">
                <a16:creationId xmlns:a16="http://schemas.microsoft.com/office/drawing/2014/main" id="{824AD35F-E150-EF4A-3C2A-7071898838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A58491-5551-B9D4-E948-4BAE15E9D8BF}"/>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3960478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B19EF-ACCE-E7D1-A3E0-31958A70B7C9}"/>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3" name="Footer Placeholder 2">
            <a:extLst>
              <a:ext uri="{FF2B5EF4-FFF2-40B4-BE49-F238E27FC236}">
                <a16:creationId xmlns:a16="http://schemas.microsoft.com/office/drawing/2014/main" id="{54E6D5E3-248B-DCD0-27D4-9180AD64EB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A0FA73-5A0E-8AA6-1C72-091A5387F1C9}"/>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2928109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C869-9348-70F7-F6BC-7B15FC02B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EA94A4-DE86-3E77-9B13-DDA10F2F43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9443C3-6F66-58E9-1DB4-EA9971ABB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716824-DAF2-CDD4-C323-C0428EB96563}"/>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6" name="Footer Placeholder 5">
            <a:extLst>
              <a:ext uri="{FF2B5EF4-FFF2-40B4-BE49-F238E27FC236}">
                <a16:creationId xmlns:a16="http://schemas.microsoft.com/office/drawing/2014/main" id="{A6D9B67B-9DA5-8249-61AD-009D4522FB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F9CA55-B92A-7AA8-D3AC-B2597F6349DD}"/>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3286897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E2E38-4BDC-817D-4BE5-49B1331066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81F622-D848-4BAF-83BD-0DB23A009C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49B954-49A2-D647-9C77-FFD71F18C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C3EC67-C757-8628-9B5B-BA6A3BE71B36}"/>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6" name="Footer Placeholder 5">
            <a:extLst>
              <a:ext uri="{FF2B5EF4-FFF2-40B4-BE49-F238E27FC236}">
                <a16:creationId xmlns:a16="http://schemas.microsoft.com/office/drawing/2014/main" id="{CFEE5506-37D8-EA64-EE96-242B78F675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FB373F-B311-A5C2-A2D8-78D5A1E04F6C}"/>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2892670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916A-8292-4CDB-3880-44A01F41FA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414089-AA65-B297-6A34-47DDC21D95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79551E-BD1F-DBFD-E26A-0B4B69842A11}"/>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F0511C94-BF20-D2CB-5E18-0AFCF683B0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B098E7-3823-24E3-CCCE-7978E77B60F4}"/>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4276937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9519FF-C7F6-1306-B2EE-0072D7B87A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932276-DD32-FD56-6B02-9B681CE921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366628-DAEE-80A3-0E75-3713D236C248}"/>
              </a:ext>
            </a:extLst>
          </p:cNvPr>
          <p:cNvSpPr>
            <a:spLocks noGrp="1"/>
          </p:cNvSpPr>
          <p:nvPr>
            <p:ph type="dt" sz="half" idx="10"/>
          </p:nvPr>
        </p:nvSpPr>
        <p:spPr/>
        <p:txBody>
          <a:body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D1C2CD0B-71D0-79D1-2603-1DF12C7D1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C20A02-966F-B297-2280-D09C8866D635}"/>
              </a:ext>
            </a:extLst>
          </p:cNvPr>
          <p:cNvSpPr>
            <a:spLocks noGrp="1"/>
          </p:cNvSpPr>
          <p:nvPr>
            <p:ph type="sldNum" sz="quarter" idx="12"/>
          </p:nvPr>
        </p:nvSpPr>
        <p:spPr/>
        <p:txBody>
          <a:bodyPr/>
          <a:lstStyle/>
          <a:p>
            <a:fld id="{467D043C-72CE-4A69-974C-E54D159A6C8B}" type="slidenum">
              <a:rPr lang="en-IN" smtClean="0"/>
              <a:t>‹#›</a:t>
            </a:fld>
            <a:endParaRPr lang="en-IN"/>
          </a:p>
        </p:txBody>
      </p:sp>
    </p:spTree>
    <p:extLst>
      <p:ext uri="{BB962C8B-B14F-4D97-AF65-F5344CB8AC3E}">
        <p14:creationId xmlns:p14="http://schemas.microsoft.com/office/powerpoint/2010/main" val="3572471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B57CEE-5699-7A94-5338-840169964C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614CAF-6EB5-46EC-FD65-B0E95493BB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0FD4F0-202C-93DB-238E-CBE7961731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057AF9-62B5-48B0-BB22-29734D20F5C4}" type="datetimeFigureOut">
              <a:rPr lang="en-IN" smtClean="0"/>
              <a:t>17-04-2025</a:t>
            </a:fld>
            <a:endParaRPr lang="en-IN"/>
          </a:p>
        </p:txBody>
      </p:sp>
      <p:sp>
        <p:nvSpPr>
          <p:cNvPr id="5" name="Footer Placeholder 4">
            <a:extLst>
              <a:ext uri="{FF2B5EF4-FFF2-40B4-BE49-F238E27FC236}">
                <a16:creationId xmlns:a16="http://schemas.microsoft.com/office/drawing/2014/main" id="{89EFBB6D-37FE-6E7A-1105-B3B8F9E726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B168D91-5FD5-41C4-14A3-B64264ED47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7D043C-72CE-4A69-974C-E54D159A6C8B}" type="slidenum">
              <a:rPr lang="en-IN" smtClean="0"/>
              <a:t>‹#›</a:t>
            </a:fld>
            <a:endParaRPr lang="en-IN"/>
          </a:p>
        </p:txBody>
      </p:sp>
    </p:spTree>
    <p:extLst>
      <p:ext uri="{BB962C8B-B14F-4D97-AF65-F5344CB8AC3E}">
        <p14:creationId xmlns:p14="http://schemas.microsoft.com/office/powerpoint/2010/main" val="966538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flexera.com/blog/cloud/cloud-computing-trends-2022-state-of-the-cloud-report/"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9F4F-348F-D5A1-9FC3-00616AE8D79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5C377F7-AD92-9DE9-333B-878B6BC4B80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55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28D089D-3DEC-DCF6-6470-A90C6C72A2B7}"/>
              </a:ext>
            </a:extLst>
          </p:cNvPr>
          <p:cNvGraphicFramePr>
            <a:graphicFrameLocks noGrp="1"/>
          </p:cNvGraphicFramePr>
          <p:nvPr>
            <p:extLst>
              <p:ext uri="{D42A27DB-BD31-4B8C-83A1-F6EECF244321}">
                <p14:modId xmlns:p14="http://schemas.microsoft.com/office/powerpoint/2010/main" val="3484242787"/>
              </p:ext>
            </p:extLst>
          </p:nvPr>
        </p:nvGraphicFramePr>
        <p:xfrm>
          <a:off x="643467" y="1454614"/>
          <a:ext cx="10905067" cy="3948772"/>
        </p:xfrm>
        <a:graphic>
          <a:graphicData uri="http://schemas.openxmlformats.org/drawingml/2006/table">
            <a:tbl>
              <a:tblPr/>
              <a:tblGrid>
                <a:gridCol w="6691282">
                  <a:extLst>
                    <a:ext uri="{9D8B030D-6E8A-4147-A177-3AD203B41FA5}">
                      <a16:colId xmlns:a16="http://schemas.microsoft.com/office/drawing/2014/main" val="3044570310"/>
                    </a:ext>
                  </a:extLst>
                </a:gridCol>
                <a:gridCol w="4213785">
                  <a:extLst>
                    <a:ext uri="{9D8B030D-6E8A-4147-A177-3AD203B41FA5}">
                      <a16:colId xmlns:a16="http://schemas.microsoft.com/office/drawing/2014/main" val="187812931"/>
                    </a:ext>
                  </a:extLst>
                </a:gridCol>
              </a:tblGrid>
              <a:tr h="736212">
                <a:tc>
                  <a:txBody>
                    <a:bodyPr/>
                    <a:lstStyle/>
                    <a:p>
                      <a:pPr algn="l" fontAlgn="t"/>
                      <a:r>
                        <a:rPr lang="en-IN" sz="3300" b="1">
                          <a:effectLst/>
                        </a:rPr>
                        <a:t>AZ-900 Domain Area</a:t>
                      </a:r>
                      <a:endParaRPr lang="en-IN" sz="3300">
                        <a:effectLst/>
                      </a:endParaRPr>
                    </a:p>
                  </a:txBody>
                  <a:tcPr marL="167321" marR="167321" marT="83660" marB="83660">
                    <a:lnL>
                      <a:noFill/>
                    </a:lnL>
                    <a:lnR>
                      <a:noFill/>
                    </a:lnR>
                    <a:lnT>
                      <a:noFill/>
                    </a:lnT>
                    <a:lnB>
                      <a:noFill/>
                    </a:lnB>
                    <a:solidFill>
                      <a:srgbClr val="FFFFFF"/>
                    </a:solidFill>
                  </a:tcPr>
                </a:tc>
                <a:tc>
                  <a:txBody>
                    <a:bodyPr/>
                    <a:lstStyle/>
                    <a:p>
                      <a:pPr algn="l" fontAlgn="t"/>
                      <a:r>
                        <a:rPr lang="en-IN" sz="3300" b="1">
                          <a:effectLst/>
                        </a:rPr>
                        <a:t>Weight</a:t>
                      </a:r>
                      <a:endParaRPr lang="en-IN" sz="3300">
                        <a:effectLst/>
                      </a:endParaRPr>
                    </a:p>
                  </a:txBody>
                  <a:tcPr marL="167321" marR="167321" marT="83660" marB="83660">
                    <a:lnL>
                      <a:noFill/>
                    </a:lnL>
                    <a:lnR>
                      <a:noFill/>
                    </a:lnR>
                    <a:lnT>
                      <a:noFill/>
                    </a:lnT>
                    <a:lnB>
                      <a:noFill/>
                    </a:lnB>
                    <a:solidFill>
                      <a:srgbClr val="FFFFFF"/>
                    </a:solidFill>
                  </a:tcPr>
                </a:tc>
                <a:extLst>
                  <a:ext uri="{0D108BD9-81ED-4DB2-BD59-A6C34878D82A}">
                    <a16:rowId xmlns:a16="http://schemas.microsoft.com/office/drawing/2014/main" val="1302339701"/>
                  </a:ext>
                </a:extLst>
              </a:tr>
              <a:tr h="736212">
                <a:tc>
                  <a:txBody>
                    <a:bodyPr/>
                    <a:lstStyle/>
                    <a:p>
                      <a:pPr algn="l" fontAlgn="t"/>
                      <a:r>
                        <a:rPr lang="en-IN" sz="3300">
                          <a:effectLst/>
                        </a:rPr>
                        <a:t>Describe cloud concepts</a:t>
                      </a:r>
                    </a:p>
                  </a:txBody>
                  <a:tcPr marL="167321" marR="167321" marT="83660" marB="83660">
                    <a:lnL>
                      <a:noFill/>
                    </a:lnL>
                    <a:lnR>
                      <a:noFill/>
                    </a:lnR>
                    <a:lnT>
                      <a:noFill/>
                    </a:lnT>
                    <a:lnB>
                      <a:noFill/>
                    </a:lnB>
                    <a:solidFill>
                      <a:srgbClr val="FFFFFF"/>
                    </a:solidFill>
                  </a:tcPr>
                </a:tc>
                <a:tc>
                  <a:txBody>
                    <a:bodyPr/>
                    <a:lstStyle/>
                    <a:p>
                      <a:pPr algn="l" fontAlgn="t"/>
                      <a:r>
                        <a:rPr lang="en-IN" sz="3300">
                          <a:effectLst/>
                        </a:rPr>
                        <a:t>25-30%</a:t>
                      </a:r>
                    </a:p>
                  </a:txBody>
                  <a:tcPr marL="167321" marR="167321" marT="83660" marB="83660">
                    <a:lnL>
                      <a:noFill/>
                    </a:lnL>
                    <a:lnR>
                      <a:noFill/>
                    </a:lnR>
                    <a:lnT>
                      <a:noFill/>
                    </a:lnT>
                    <a:lnB>
                      <a:noFill/>
                    </a:lnB>
                    <a:solidFill>
                      <a:srgbClr val="FFFFFF"/>
                    </a:solidFill>
                  </a:tcPr>
                </a:tc>
                <a:extLst>
                  <a:ext uri="{0D108BD9-81ED-4DB2-BD59-A6C34878D82A}">
                    <a16:rowId xmlns:a16="http://schemas.microsoft.com/office/drawing/2014/main" val="2463617939"/>
                  </a:ext>
                </a:extLst>
              </a:tr>
              <a:tr h="1238174">
                <a:tc>
                  <a:txBody>
                    <a:bodyPr/>
                    <a:lstStyle/>
                    <a:p>
                      <a:pPr algn="l" fontAlgn="t"/>
                      <a:r>
                        <a:rPr lang="en-IN" sz="3300">
                          <a:effectLst/>
                        </a:rPr>
                        <a:t>Describe Azure architecture and services</a:t>
                      </a:r>
                    </a:p>
                  </a:txBody>
                  <a:tcPr marL="167321" marR="167321" marT="83660" marB="83660">
                    <a:lnL>
                      <a:noFill/>
                    </a:lnL>
                    <a:lnR>
                      <a:noFill/>
                    </a:lnR>
                    <a:lnT>
                      <a:noFill/>
                    </a:lnT>
                    <a:lnB>
                      <a:noFill/>
                    </a:lnB>
                    <a:solidFill>
                      <a:srgbClr val="FFFFFF"/>
                    </a:solidFill>
                  </a:tcPr>
                </a:tc>
                <a:tc>
                  <a:txBody>
                    <a:bodyPr/>
                    <a:lstStyle/>
                    <a:p>
                      <a:pPr algn="l" fontAlgn="t"/>
                      <a:r>
                        <a:rPr lang="en-IN" sz="3300">
                          <a:effectLst/>
                        </a:rPr>
                        <a:t>35-40%</a:t>
                      </a:r>
                    </a:p>
                  </a:txBody>
                  <a:tcPr marL="167321" marR="167321" marT="83660" marB="83660">
                    <a:lnL>
                      <a:noFill/>
                    </a:lnL>
                    <a:lnR>
                      <a:noFill/>
                    </a:lnR>
                    <a:lnT>
                      <a:noFill/>
                    </a:lnT>
                    <a:lnB>
                      <a:noFill/>
                    </a:lnB>
                    <a:solidFill>
                      <a:srgbClr val="FFFFFF"/>
                    </a:solidFill>
                  </a:tcPr>
                </a:tc>
                <a:extLst>
                  <a:ext uri="{0D108BD9-81ED-4DB2-BD59-A6C34878D82A}">
                    <a16:rowId xmlns:a16="http://schemas.microsoft.com/office/drawing/2014/main" val="3908512446"/>
                  </a:ext>
                </a:extLst>
              </a:tr>
              <a:tr h="1238174">
                <a:tc>
                  <a:txBody>
                    <a:bodyPr/>
                    <a:lstStyle/>
                    <a:p>
                      <a:pPr algn="l" fontAlgn="t"/>
                      <a:r>
                        <a:rPr lang="en-IN" sz="3300">
                          <a:effectLst/>
                        </a:rPr>
                        <a:t>Describe Azure management and governance</a:t>
                      </a:r>
                    </a:p>
                  </a:txBody>
                  <a:tcPr marL="167321" marR="167321" marT="83660" marB="83660">
                    <a:lnL>
                      <a:noFill/>
                    </a:lnL>
                    <a:lnR>
                      <a:noFill/>
                    </a:lnR>
                    <a:lnT>
                      <a:noFill/>
                    </a:lnT>
                    <a:lnB>
                      <a:noFill/>
                    </a:lnB>
                    <a:solidFill>
                      <a:srgbClr val="FFFFFF"/>
                    </a:solidFill>
                  </a:tcPr>
                </a:tc>
                <a:tc>
                  <a:txBody>
                    <a:bodyPr/>
                    <a:lstStyle/>
                    <a:p>
                      <a:pPr algn="l" fontAlgn="t"/>
                      <a:r>
                        <a:rPr lang="en-IN" sz="3300" dirty="0">
                          <a:effectLst/>
                        </a:rPr>
                        <a:t>30-35%</a:t>
                      </a:r>
                    </a:p>
                  </a:txBody>
                  <a:tcPr marL="167321" marR="167321" marT="83660" marB="83660">
                    <a:lnL>
                      <a:noFill/>
                    </a:lnL>
                    <a:lnR>
                      <a:noFill/>
                    </a:lnR>
                    <a:lnT>
                      <a:noFill/>
                    </a:lnT>
                    <a:lnB>
                      <a:noFill/>
                    </a:lnB>
                    <a:solidFill>
                      <a:srgbClr val="FFFFFF"/>
                    </a:solidFill>
                  </a:tcPr>
                </a:tc>
                <a:extLst>
                  <a:ext uri="{0D108BD9-81ED-4DB2-BD59-A6C34878D82A}">
                    <a16:rowId xmlns:a16="http://schemas.microsoft.com/office/drawing/2014/main" val="2684503184"/>
                  </a:ext>
                </a:extLst>
              </a:tr>
            </a:tbl>
          </a:graphicData>
        </a:graphic>
      </p:graphicFrame>
    </p:spTree>
    <p:extLst>
      <p:ext uri="{BB962C8B-B14F-4D97-AF65-F5344CB8AC3E}">
        <p14:creationId xmlns:p14="http://schemas.microsoft.com/office/powerpoint/2010/main" val="140878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0759BB-DA1B-48D9-C7B0-0D8A95BB9C11}"/>
              </a:ext>
            </a:extLst>
          </p:cNvPr>
          <p:cNvSpPr txBox="1"/>
          <p:nvPr/>
        </p:nvSpPr>
        <p:spPr>
          <a:xfrm>
            <a:off x="438912" y="91441"/>
            <a:ext cx="11631168" cy="2862322"/>
          </a:xfrm>
          <a:prstGeom prst="rect">
            <a:avLst/>
          </a:prstGeom>
          <a:noFill/>
        </p:spPr>
        <p:txBody>
          <a:bodyPr wrap="square">
            <a:spAutoFit/>
          </a:bodyPr>
          <a:lstStyle/>
          <a:p>
            <a:r>
              <a:rPr lang="en-IN" b="1" dirty="0">
                <a:effectLst/>
              </a:rPr>
              <a:t>Your organization wants to leverage Azure for its computing needs while maintaining some data on-premises due to regulatory requirements. Which cloud model would be the most suitable?</a:t>
            </a:r>
            <a:endParaRPr lang="en-IN" b="0" dirty="0">
              <a:effectLst/>
            </a:endParaRPr>
          </a:p>
          <a:p>
            <a:r>
              <a:rPr lang="en-IN" b="0" dirty="0">
                <a:effectLst/>
              </a:rPr>
              <a:t>      A) Public cloud</a:t>
            </a:r>
          </a:p>
          <a:p>
            <a:r>
              <a:rPr lang="en-IN" b="0" dirty="0">
                <a:effectLst/>
              </a:rPr>
              <a:t>      B) Private cloud</a:t>
            </a:r>
          </a:p>
          <a:p>
            <a:r>
              <a:rPr lang="en-IN" b="1" dirty="0">
                <a:effectLst/>
              </a:rPr>
              <a:t>      </a:t>
            </a:r>
            <a:r>
              <a:rPr lang="en-IN" dirty="0">
                <a:effectLst/>
              </a:rPr>
              <a:t>C) Hybrid cloud</a:t>
            </a:r>
          </a:p>
          <a:p>
            <a:r>
              <a:rPr lang="en-IN" b="0" dirty="0">
                <a:effectLst/>
              </a:rPr>
              <a:t>      D) Multi-cloud</a:t>
            </a:r>
          </a:p>
          <a:p>
            <a:r>
              <a:rPr lang="en-IN" b="1" i="1" dirty="0">
                <a:effectLst/>
              </a:rPr>
              <a:t>Explanation: </a:t>
            </a:r>
            <a:r>
              <a:rPr lang="en-IN" b="0" i="1" dirty="0">
                <a:effectLst/>
              </a:rPr>
              <a:t>A hybrid cloud model allows an organization to use a mix of on-premises, private cloud, and public cloud services, providing flexibility and more deployment options.</a:t>
            </a:r>
            <a:endParaRPr lang="en-IN" b="0" dirty="0">
              <a:effectLst/>
            </a:endParaRPr>
          </a:p>
          <a:p>
            <a:br>
              <a:rPr lang="en-IN" b="0" dirty="0">
                <a:effectLst/>
              </a:rPr>
            </a:br>
            <a:endParaRPr lang="en-IN" dirty="0"/>
          </a:p>
        </p:txBody>
      </p:sp>
      <p:sp>
        <p:nvSpPr>
          <p:cNvPr id="5" name="TextBox 4">
            <a:extLst>
              <a:ext uri="{FF2B5EF4-FFF2-40B4-BE49-F238E27FC236}">
                <a16:creationId xmlns:a16="http://schemas.microsoft.com/office/drawing/2014/main" id="{56C0FAAE-7D87-29A6-BFD1-6F162AB3190D}"/>
              </a:ext>
            </a:extLst>
          </p:cNvPr>
          <p:cNvSpPr txBox="1"/>
          <p:nvPr/>
        </p:nvSpPr>
        <p:spPr>
          <a:xfrm>
            <a:off x="505206" y="2953763"/>
            <a:ext cx="9397746" cy="2308324"/>
          </a:xfrm>
          <a:prstGeom prst="rect">
            <a:avLst/>
          </a:prstGeom>
          <a:noFill/>
        </p:spPr>
        <p:txBody>
          <a:bodyPr wrap="square">
            <a:spAutoFit/>
          </a:bodyPr>
          <a:lstStyle/>
          <a:p>
            <a:pPr algn="l"/>
            <a:r>
              <a:rPr lang="en-IN" b="1" i="0" dirty="0">
                <a:solidFill>
                  <a:srgbClr val="2D2F31"/>
                </a:solidFill>
                <a:effectLst/>
                <a:latin typeface="Udemy Sans"/>
              </a:rPr>
              <a:t>Your organization is considering using Azure for its data storage needs. Which Azure service would be ideal for storing unstructured data, such as images and videos?</a:t>
            </a:r>
            <a:endParaRPr lang="en-IN" b="0" i="0" dirty="0">
              <a:solidFill>
                <a:srgbClr val="2D2F31"/>
              </a:solidFill>
              <a:effectLst/>
              <a:latin typeface="Udemy Sans"/>
            </a:endParaRPr>
          </a:p>
          <a:p>
            <a:pPr algn="l"/>
            <a:r>
              <a:rPr lang="en-IN" b="0" i="0" dirty="0">
                <a:solidFill>
                  <a:srgbClr val="2D2F31"/>
                </a:solidFill>
                <a:effectLst/>
                <a:latin typeface="Udemy Sans"/>
              </a:rPr>
              <a:t>      A) Azure SQL Database</a:t>
            </a:r>
          </a:p>
          <a:p>
            <a:pPr algn="l"/>
            <a:r>
              <a:rPr lang="en-IN" b="0" i="0" dirty="0">
                <a:solidFill>
                  <a:srgbClr val="2D2F31"/>
                </a:solidFill>
                <a:effectLst/>
                <a:latin typeface="Udemy Sans"/>
              </a:rPr>
              <a:t>      B) Azure Cosmos DB</a:t>
            </a:r>
          </a:p>
          <a:p>
            <a:pPr algn="l"/>
            <a:r>
              <a:rPr lang="en-IN" b="1" i="0" dirty="0">
                <a:solidFill>
                  <a:srgbClr val="2D2F31"/>
                </a:solidFill>
                <a:effectLst/>
                <a:latin typeface="Udemy Sans"/>
              </a:rPr>
              <a:t>      </a:t>
            </a:r>
            <a:r>
              <a:rPr lang="en-IN" i="0" dirty="0">
                <a:solidFill>
                  <a:srgbClr val="2D2F31"/>
                </a:solidFill>
                <a:effectLst/>
                <a:latin typeface="Udemy Sans"/>
              </a:rPr>
              <a:t>C) Azure Blob Storage</a:t>
            </a:r>
          </a:p>
          <a:p>
            <a:pPr algn="l"/>
            <a:r>
              <a:rPr lang="en-IN" b="0" i="0" dirty="0">
                <a:solidFill>
                  <a:srgbClr val="2D2F31"/>
                </a:solidFill>
                <a:effectLst/>
                <a:latin typeface="Udemy Sans"/>
              </a:rPr>
              <a:t>      D) Azure Table Storage</a:t>
            </a:r>
          </a:p>
          <a:p>
            <a:pPr algn="l"/>
            <a:r>
              <a:rPr lang="en-IN" b="1" i="1" dirty="0">
                <a:solidFill>
                  <a:srgbClr val="2D2F31"/>
                </a:solidFill>
                <a:effectLst/>
                <a:latin typeface="Udemy Sans"/>
              </a:rPr>
              <a:t>Explanation:</a:t>
            </a:r>
            <a:r>
              <a:rPr lang="en-IN" b="0" i="1" dirty="0">
                <a:solidFill>
                  <a:srgbClr val="2D2F31"/>
                </a:solidFill>
                <a:effectLst/>
                <a:latin typeface="Udemy Sans"/>
              </a:rPr>
              <a:t> Azure Blob Storage is designed to store large amounts of unstructured data, such as images and videos.</a:t>
            </a:r>
            <a:endParaRPr lang="en-IN" b="0" i="0" dirty="0">
              <a:solidFill>
                <a:srgbClr val="2D2F31"/>
              </a:solidFill>
              <a:effectLst/>
              <a:latin typeface="Udemy Sans"/>
            </a:endParaRPr>
          </a:p>
        </p:txBody>
      </p:sp>
    </p:spTree>
    <p:extLst>
      <p:ext uri="{BB962C8B-B14F-4D97-AF65-F5344CB8AC3E}">
        <p14:creationId xmlns:p14="http://schemas.microsoft.com/office/powerpoint/2010/main" val="3047613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41A098-4EEE-2244-775A-050790C5AD35}"/>
              </a:ext>
            </a:extLst>
          </p:cNvPr>
          <p:cNvSpPr txBox="1"/>
          <p:nvPr/>
        </p:nvSpPr>
        <p:spPr>
          <a:xfrm>
            <a:off x="907542" y="242191"/>
            <a:ext cx="11098530" cy="2308324"/>
          </a:xfrm>
          <a:prstGeom prst="rect">
            <a:avLst/>
          </a:prstGeom>
          <a:noFill/>
        </p:spPr>
        <p:txBody>
          <a:bodyPr wrap="square">
            <a:spAutoFit/>
          </a:bodyPr>
          <a:lstStyle/>
          <a:p>
            <a:pPr algn="l"/>
            <a:r>
              <a:rPr lang="en-IN" b="1" i="0" dirty="0">
                <a:solidFill>
                  <a:srgbClr val="2D2F31"/>
                </a:solidFill>
                <a:effectLst/>
                <a:latin typeface="Udemy Sans"/>
              </a:rPr>
              <a:t>Your company wants to implement a messaging service that can handle high-volume, real-time data streaming. Which Azure service would be suitable for this purpose?</a:t>
            </a:r>
            <a:endParaRPr lang="en-IN" b="0" i="0" dirty="0">
              <a:solidFill>
                <a:srgbClr val="2D2F31"/>
              </a:solidFill>
              <a:effectLst/>
              <a:latin typeface="Udemy Sans"/>
            </a:endParaRPr>
          </a:p>
          <a:p>
            <a:pPr algn="l"/>
            <a:r>
              <a:rPr lang="en-IN" b="0" i="0" dirty="0">
                <a:solidFill>
                  <a:srgbClr val="2D2F31"/>
                </a:solidFill>
                <a:effectLst/>
                <a:latin typeface="Udemy Sans"/>
              </a:rPr>
              <a:t>      A) Azure Queue Storage</a:t>
            </a:r>
          </a:p>
          <a:p>
            <a:pPr algn="l"/>
            <a:r>
              <a:rPr lang="en-IN" b="0" i="0" dirty="0">
                <a:solidFill>
                  <a:srgbClr val="2D2F31"/>
                </a:solidFill>
                <a:effectLst/>
                <a:latin typeface="Udemy Sans"/>
              </a:rPr>
              <a:t>      B) Azure Service Bus</a:t>
            </a:r>
          </a:p>
          <a:p>
            <a:pPr algn="l"/>
            <a:r>
              <a:rPr lang="en-IN" b="1" i="0" dirty="0">
                <a:solidFill>
                  <a:srgbClr val="2D2F31"/>
                </a:solidFill>
                <a:effectLst/>
                <a:latin typeface="Udemy Sans"/>
              </a:rPr>
              <a:t>      </a:t>
            </a:r>
            <a:r>
              <a:rPr lang="en-IN" i="0" dirty="0">
                <a:solidFill>
                  <a:srgbClr val="2D2F31"/>
                </a:solidFill>
                <a:effectLst/>
                <a:latin typeface="Udemy Sans"/>
              </a:rPr>
              <a:t>C) Azure Event Hubs</a:t>
            </a:r>
          </a:p>
          <a:p>
            <a:pPr algn="l"/>
            <a:r>
              <a:rPr lang="en-IN" b="0" i="0" dirty="0">
                <a:solidFill>
                  <a:srgbClr val="2D2F31"/>
                </a:solidFill>
                <a:effectLst/>
                <a:latin typeface="Udemy Sans"/>
              </a:rPr>
              <a:t>      D) Azure Notification Hubs</a:t>
            </a:r>
          </a:p>
          <a:p>
            <a:pPr algn="l"/>
            <a:r>
              <a:rPr lang="en-IN" b="1" i="1" dirty="0">
                <a:solidFill>
                  <a:srgbClr val="2D2F31"/>
                </a:solidFill>
                <a:effectLst/>
                <a:latin typeface="Udemy Sans"/>
              </a:rPr>
              <a:t>Explanation:</a:t>
            </a:r>
            <a:r>
              <a:rPr lang="en-IN" b="0" i="1" dirty="0">
                <a:solidFill>
                  <a:srgbClr val="2D2F31"/>
                </a:solidFill>
                <a:effectLst/>
                <a:latin typeface="Udemy Sans"/>
              </a:rPr>
              <a:t> Azure Event Hubs is a big data streaming platform and event ingestion service, capable of receiving and processing millions of events per second.</a:t>
            </a:r>
            <a:endParaRPr lang="en-IN" b="0" i="0" dirty="0">
              <a:solidFill>
                <a:srgbClr val="2D2F31"/>
              </a:solidFill>
              <a:effectLst/>
              <a:latin typeface="Udemy Sans"/>
            </a:endParaRPr>
          </a:p>
        </p:txBody>
      </p:sp>
      <p:sp>
        <p:nvSpPr>
          <p:cNvPr id="5" name="TextBox 4">
            <a:extLst>
              <a:ext uri="{FF2B5EF4-FFF2-40B4-BE49-F238E27FC236}">
                <a16:creationId xmlns:a16="http://schemas.microsoft.com/office/drawing/2014/main" id="{5BB722C6-2F7F-DC27-2972-5A9AE3993137}"/>
              </a:ext>
            </a:extLst>
          </p:cNvPr>
          <p:cNvSpPr txBox="1"/>
          <p:nvPr/>
        </p:nvSpPr>
        <p:spPr>
          <a:xfrm>
            <a:off x="633222" y="2837748"/>
            <a:ext cx="11372850" cy="2585323"/>
          </a:xfrm>
          <a:prstGeom prst="rect">
            <a:avLst/>
          </a:prstGeom>
          <a:noFill/>
        </p:spPr>
        <p:txBody>
          <a:bodyPr wrap="square">
            <a:spAutoFit/>
          </a:bodyPr>
          <a:lstStyle/>
          <a:p>
            <a:pPr algn="l"/>
            <a:r>
              <a:rPr lang="en-IN" b="1" i="0" dirty="0">
                <a:solidFill>
                  <a:srgbClr val="2D2F31"/>
                </a:solidFill>
                <a:effectLst/>
                <a:latin typeface="Udemy Sans"/>
              </a:rPr>
              <a:t>Your company needs to automate the orchestration of business processes and workflows. Which Azure service would be suitable for this purpose?</a:t>
            </a:r>
            <a:endParaRPr lang="en-IN" b="0" i="0" dirty="0">
              <a:solidFill>
                <a:srgbClr val="2D2F31"/>
              </a:solidFill>
              <a:effectLst/>
              <a:latin typeface="Udemy Sans"/>
            </a:endParaRPr>
          </a:p>
          <a:p>
            <a:pPr algn="l"/>
            <a:r>
              <a:rPr lang="en-IN" b="0" i="0" dirty="0">
                <a:solidFill>
                  <a:srgbClr val="2D2F31"/>
                </a:solidFill>
                <a:effectLst/>
                <a:latin typeface="Udemy Sans"/>
              </a:rPr>
              <a:t>      A) Azure Functions</a:t>
            </a:r>
          </a:p>
          <a:p>
            <a:pPr algn="l"/>
            <a:r>
              <a:rPr lang="en-IN" b="1" i="0" dirty="0">
                <a:solidFill>
                  <a:srgbClr val="2D2F31"/>
                </a:solidFill>
                <a:effectLst/>
                <a:latin typeface="Udemy Sans"/>
              </a:rPr>
              <a:t>      </a:t>
            </a:r>
            <a:r>
              <a:rPr lang="en-IN" i="0" dirty="0">
                <a:solidFill>
                  <a:srgbClr val="2D2F31"/>
                </a:solidFill>
                <a:effectLst/>
                <a:latin typeface="Udemy Sans"/>
              </a:rPr>
              <a:t>B) Azure Logic Apps</a:t>
            </a:r>
          </a:p>
          <a:p>
            <a:pPr algn="l"/>
            <a:r>
              <a:rPr lang="en-IN" b="0" i="0" dirty="0">
                <a:solidFill>
                  <a:srgbClr val="2D2F31"/>
                </a:solidFill>
                <a:effectLst/>
                <a:latin typeface="Udemy Sans"/>
              </a:rPr>
              <a:t>      C) Azure Event Grid</a:t>
            </a:r>
          </a:p>
          <a:p>
            <a:pPr algn="l"/>
            <a:r>
              <a:rPr lang="en-IN" b="0" i="0" dirty="0">
                <a:solidFill>
                  <a:srgbClr val="2D2F31"/>
                </a:solidFill>
                <a:effectLst/>
                <a:latin typeface="Udemy Sans"/>
              </a:rPr>
              <a:t>      D) Azure Service Bus</a:t>
            </a:r>
          </a:p>
          <a:p>
            <a:pPr algn="l"/>
            <a:r>
              <a:rPr lang="en-IN" b="1" i="1" dirty="0">
                <a:solidFill>
                  <a:srgbClr val="2D2F31"/>
                </a:solidFill>
                <a:effectLst/>
                <a:latin typeface="Udemy Sans"/>
              </a:rPr>
              <a:t>Explanation:</a:t>
            </a:r>
            <a:r>
              <a:rPr lang="en-IN" b="0" i="1" dirty="0">
                <a:solidFill>
                  <a:srgbClr val="2D2F31"/>
                </a:solidFill>
                <a:effectLst/>
                <a:latin typeface="Udemy Sans"/>
              </a:rPr>
              <a:t> Azure Logic Apps is a cloud service that helps you schedule, automate, and orchestrate tasks, business processes, and workflows when you need to integrate apps, data, systems, and services across enterprises or organizations.</a:t>
            </a:r>
            <a:endParaRPr lang="en-IN" b="0" i="0" dirty="0">
              <a:solidFill>
                <a:srgbClr val="2D2F31"/>
              </a:solidFill>
              <a:effectLst/>
              <a:latin typeface="Udemy Sans"/>
            </a:endParaRPr>
          </a:p>
        </p:txBody>
      </p:sp>
    </p:spTree>
    <p:extLst>
      <p:ext uri="{BB962C8B-B14F-4D97-AF65-F5344CB8AC3E}">
        <p14:creationId xmlns:p14="http://schemas.microsoft.com/office/powerpoint/2010/main" val="4273207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C7297-7E6E-266C-6F3A-8E61DEE42E1A}"/>
              </a:ext>
            </a:extLst>
          </p:cNvPr>
          <p:cNvSpPr txBox="1"/>
          <p:nvPr/>
        </p:nvSpPr>
        <p:spPr>
          <a:xfrm>
            <a:off x="368046" y="223903"/>
            <a:ext cx="11619738" cy="2031325"/>
          </a:xfrm>
          <a:prstGeom prst="rect">
            <a:avLst/>
          </a:prstGeom>
          <a:noFill/>
        </p:spPr>
        <p:txBody>
          <a:bodyPr wrap="square">
            <a:spAutoFit/>
          </a:bodyPr>
          <a:lstStyle/>
          <a:p>
            <a:pPr algn="l"/>
            <a:r>
              <a:rPr lang="en-IN" b="1" i="0" dirty="0">
                <a:solidFill>
                  <a:srgbClr val="2D2F31"/>
                </a:solidFill>
                <a:effectLst/>
                <a:latin typeface="Udemy Sans"/>
              </a:rPr>
              <a:t>What is the main advantage of using a public cloud model?</a:t>
            </a:r>
            <a:endParaRPr lang="en-IN" b="0" i="0" dirty="0">
              <a:solidFill>
                <a:srgbClr val="2D2F31"/>
              </a:solidFill>
              <a:effectLst/>
              <a:latin typeface="Udemy Sans"/>
            </a:endParaRPr>
          </a:p>
          <a:p>
            <a:pPr algn="l"/>
            <a:r>
              <a:rPr lang="en-IN" b="0" i="0" dirty="0">
                <a:solidFill>
                  <a:srgbClr val="2D2F31"/>
                </a:solidFill>
                <a:effectLst/>
                <a:latin typeface="Udemy Sans"/>
              </a:rPr>
              <a:t>      A) It provides the highest level of security.</a:t>
            </a:r>
          </a:p>
          <a:p>
            <a:pPr algn="l"/>
            <a:r>
              <a:rPr lang="en-IN" b="0" i="0" dirty="0">
                <a:solidFill>
                  <a:srgbClr val="2D2F31"/>
                </a:solidFill>
                <a:effectLst/>
                <a:latin typeface="Udemy Sans"/>
              </a:rPr>
              <a:t>      B) It offers the most control over data and applications.</a:t>
            </a:r>
          </a:p>
          <a:p>
            <a:pPr algn="l"/>
            <a:r>
              <a:rPr lang="en-IN" b="0" i="0" dirty="0">
                <a:solidFill>
                  <a:srgbClr val="2D2F31"/>
                </a:solidFill>
                <a:effectLst/>
                <a:latin typeface="Udemy Sans"/>
              </a:rPr>
              <a:t>      C) It allows for unlimited scalability.</a:t>
            </a:r>
          </a:p>
          <a:p>
            <a:pPr algn="l"/>
            <a:r>
              <a:rPr lang="en-IN" i="0" dirty="0">
                <a:solidFill>
                  <a:srgbClr val="2D2F31"/>
                </a:solidFill>
                <a:effectLst/>
                <a:latin typeface="Udemy Sans"/>
              </a:rPr>
              <a:t>      D) It is the most cost-effective option for large-scale deployments.</a:t>
            </a:r>
          </a:p>
          <a:p>
            <a:pPr algn="l"/>
            <a:r>
              <a:rPr lang="en-IN" b="1" i="1" dirty="0">
                <a:solidFill>
                  <a:srgbClr val="2D2F31"/>
                </a:solidFill>
                <a:effectLst/>
                <a:latin typeface="Udemy Sans"/>
              </a:rPr>
              <a:t>Explanation:</a:t>
            </a:r>
            <a:r>
              <a:rPr lang="en-IN" b="0" i="1" dirty="0">
                <a:solidFill>
                  <a:srgbClr val="2D2F31"/>
                </a:solidFill>
                <a:effectLst/>
                <a:latin typeface="Udemy Sans"/>
              </a:rPr>
              <a:t> The public cloud model is often the most cost-effective option for large-scale deployments because it allows for high scalability at a lower cost compared to maintaining a private cloud.</a:t>
            </a:r>
            <a:endParaRPr lang="en-IN" b="0" i="0" dirty="0">
              <a:solidFill>
                <a:srgbClr val="2D2F31"/>
              </a:solidFill>
              <a:effectLst/>
              <a:latin typeface="Udemy Sans"/>
            </a:endParaRPr>
          </a:p>
        </p:txBody>
      </p:sp>
      <p:sp>
        <p:nvSpPr>
          <p:cNvPr id="5" name="TextBox 4">
            <a:extLst>
              <a:ext uri="{FF2B5EF4-FFF2-40B4-BE49-F238E27FC236}">
                <a16:creationId xmlns:a16="http://schemas.microsoft.com/office/drawing/2014/main" id="{38DA3505-D55D-05CB-BC2A-6BA27C17E756}"/>
              </a:ext>
            </a:extLst>
          </p:cNvPr>
          <p:cNvSpPr txBox="1"/>
          <p:nvPr/>
        </p:nvSpPr>
        <p:spPr>
          <a:xfrm>
            <a:off x="368046" y="2481132"/>
            <a:ext cx="11253978" cy="2308324"/>
          </a:xfrm>
          <a:prstGeom prst="rect">
            <a:avLst/>
          </a:prstGeom>
          <a:noFill/>
        </p:spPr>
        <p:txBody>
          <a:bodyPr wrap="square">
            <a:spAutoFit/>
          </a:bodyPr>
          <a:lstStyle/>
          <a:p>
            <a:pPr algn="l"/>
            <a:r>
              <a:rPr lang="en-IN" b="1" i="0" dirty="0">
                <a:solidFill>
                  <a:srgbClr val="2D2F31"/>
                </a:solidFill>
                <a:effectLst/>
                <a:latin typeface="Udemy Sans"/>
              </a:rPr>
              <a:t>Which cloud service model is best suited for a company that wants to use cloud-based applications without the need to manage and maintain the underlying infrastructure?</a:t>
            </a:r>
            <a:endParaRPr lang="en-IN" b="0" i="0" dirty="0">
              <a:solidFill>
                <a:srgbClr val="2D2F31"/>
              </a:solidFill>
              <a:effectLst/>
              <a:latin typeface="Udemy Sans"/>
            </a:endParaRPr>
          </a:p>
          <a:p>
            <a:pPr algn="l"/>
            <a:r>
              <a:rPr lang="en-IN" b="0" i="0" dirty="0">
                <a:solidFill>
                  <a:srgbClr val="2D2F31"/>
                </a:solidFill>
                <a:effectLst/>
                <a:latin typeface="Udemy Sans"/>
              </a:rPr>
              <a:t>      A) Infrastructure as a Service (IaaS)</a:t>
            </a:r>
          </a:p>
          <a:p>
            <a:pPr algn="l"/>
            <a:r>
              <a:rPr lang="en-IN" b="0" i="0" dirty="0">
                <a:solidFill>
                  <a:srgbClr val="2D2F31"/>
                </a:solidFill>
                <a:effectLst/>
                <a:latin typeface="Udemy Sans"/>
              </a:rPr>
              <a:t>      B) Platform as a Service (PaaS)</a:t>
            </a:r>
          </a:p>
          <a:p>
            <a:pPr algn="l"/>
            <a:r>
              <a:rPr lang="en-IN" b="1" i="0" dirty="0">
                <a:solidFill>
                  <a:srgbClr val="2D2F31"/>
                </a:solidFill>
                <a:effectLst/>
                <a:latin typeface="Udemy Sans"/>
              </a:rPr>
              <a:t>      </a:t>
            </a:r>
            <a:r>
              <a:rPr lang="en-IN" i="0" dirty="0">
                <a:solidFill>
                  <a:srgbClr val="2D2F31"/>
                </a:solidFill>
                <a:effectLst/>
                <a:latin typeface="Udemy Sans"/>
              </a:rPr>
              <a:t>C) Software as a Service (SaaS)</a:t>
            </a:r>
          </a:p>
          <a:p>
            <a:pPr algn="l"/>
            <a:r>
              <a:rPr lang="en-IN" b="0" i="0" dirty="0">
                <a:solidFill>
                  <a:srgbClr val="2D2F31"/>
                </a:solidFill>
                <a:effectLst/>
                <a:latin typeface="Udemy Sans"/>
              </a:rPr>
              <a:t>      D) None of the above</a:t>
            </a:r>
          </a:p>
          <a:p>
            <a:pPr algn="l"/>
            <a:r>
              <a:rPr lang="en-IN" b="1" i="1" dirty="0">
                <a:solidFill>
                  <a:srgbClr val="2D2F31"/>
                </a:solidFill>
                <a:effectLst/>
                <a:latin typeface="Udemy Sans"/>
              </a:rPr>
              <a:t>Explanation:</a:t>
            </a:r>
            <a:r>
              <a:rPr lang="en-IN" b="0" i="1" dirty="0">
                <a:solidFill>
                  <a:srgbClr val="2D2F31"/>
                </a:solidFill>
                <a:effectLst/>
                <a:latin typeface="Udemy Sans"/>
              </a:rPr>
              <a:t> SaaS allows companies to use cloud-based applications without the need to manage and maintain the underlying infrastructure. The service provider takes care of all the maintenance and management tasks.</a:t>
            </a:r>
            <a:endParaRPr lang="en-IN" b="0" i="0" dirty="0">
              <a:solidFill>
                <a:srgbClr val="2D2F31"/>
              </a:solidFill>
              <a:effectLst/>
              <a:latin typeface="Udemy Sans"/>
            </a:endParaRPr>
          </a:p>
        </p:txBody>
      </p:sp>
    </p:spTree>
    <p:extLst>
      <p:ext uri="{BB962C8B-B14F-4D97-AF65-F5344CB8AC3E}">
        <p14:creationId xmlns:p14="http://schemas.microsoft.com/office/powerpoint/2010/main" val="4015686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8CC997-B990-2538-526D-8A84D96845C3}"/>
              </a:ext>
            </a:extLst>
          </p:cNvPr>
          <p:cNvSpPr txBox="1"/>
          <p:nvPr/>
        </p:nvSpPr>
        <p:spPr>
          <a:xfrm>
            <a:off x="413766" y="329613"/>
            <a:ext cx="11354562" cy="2585323"/>
          </a:xfrm>
          <a:prstGeom prst="rect">
            <a:avLst/>
          </a:prstGeom>
          <a:noFill/>
        </p:spPr>
        <p:txBody>
          <a:bodyPr wrap="square">
            <a:spAutoFit/>
          </a:bodyPr>
          <a:lstStyle/>
          <a:p>
            <a:pPr algn="l"/>
            <a:r>
              <a:rPr lang="en-IN" b="1" i="0" dirty="0">
                <a:solidFill>
                  <a:srgbClr val="2D2F31"/>
                </a:solidFill>
                <a:effectLst/>
                <a:latin typeface="Udemy Sans"/>
              </a:rPr>
              <a:t>You are a cloud architect, and your company is planning to migrate its applications to Azure. You need to choose an Azure compute service that allows you to have total control over the operating system and environment. Which Azure compute service would you recommend?</a:t>
            </a:r>
            <a:endParaRPr lang="en-IN" b="0" i="0" dirty="0">
              <a:solidFill>
                <a:srgbClr val="2D2F31"/>
              </a:solidFill>
              <a:effectLst/>
              <a:latin typeface="Udemy Sans"/>
            </a:endParaRPr>
          </a:p>
          <a:p>
            <a:pPr algn="l"/>
            <a:r>
              <a:rPr lang="en-IN" b="0" i="0" dirty="0">
                <a:solidFill>
                  <a:srgbClr val="2D2F31"/>
                </a:solidFill>
                <a:effectLst/>
                <a:latin typeface="Udemy Sans"/>
              </a:rPr>
              <a:t>      A) Azure Functions</a:t>
            </a:r>
          </a:p>
          <a:p>
            <a:pPr algn="l"/>
            <a:r>
              <a:rPr lang="en-IN" b="0" i="0" dirty="0">
                <a:solidFill>
                  <a:srgbClr val="2D2F31"/>
                </a:solidFill>
                <a:effectLst/>
                <a:latin typeface="Udemy Sans"/>
              </a:rPr>
              <a:t>      B) Azure App Service</a:t>
            </a:r>
          </a:p>
          <a:p>
            <a:pPr algn="l"/>
            <a:r>
              <a:rPr lang="en-IN" b="1" i="0" dirty="0">
                <a:solidFill>
                  <a:srgbClr val="2D2F31"/>
                </a:solidFill>
                <a:effectLst/>
                <a:latin typeface="Udemy Sans"/>
              </a:rPr>
              <a:t>      </a:t>
            </a:r>
            <a:r>
              <a:rPr lang="en-IN" i="0" dirty="0">
                <a:solidFill>
                  <a:srgbClr val="2D2F31"/>
                </a:solidFill>
                <a:effectLst/>
                <a:latin typeface="Udemy Sans"/>
              </a:rPr>
              <a:t>C) Azure Virtual Machines</a:t>
            </a:r>
          </a:p>
          <a:p>
            <a:pPr algn="l"/>
            <a:r>
              <a:rPr lang="en-IN" b="0" i="0" dirty="0">
                <a:solidFill>
                  <a:srgbClr val="2D2F31"/>
                </a:solidFill>
                <a:effectLst/>
                <a:latin typeface="Udemy Sans"/>
              </a:rPr>
              <a:t>      D) Azure Container Instances</a:t>
            </a:r>
          </a:p>
          <a:p>
            <a:pPr algn="l"/>
            <a:r>
              <a:rPr lang="en-IN" b="1" i="1" dirty="0">
                <a:solidFill>
                  <a:srgbClr val="2D2F31"/>
                </a:solidFill>
                <a:effectLst/>
                <a:latin typeface="Udemy Sans"/>
              </a:rPr>
              <a:t>Explanation:</a:t>
            </a:r>
            <a:r>
              <a:rPr lang="en-IN" b="0" i="1" dirty="0">
                <a:solidFill>
                  <a:srgbClr val="2D2F31"/>
                </a:solidFill>
                <a:effectLst/>
                <a:latin typeface="Udemy Sans"/>
              </a:rPr>
              <a:t> Azure Virtual Machines provide infrastructure as a service (IaaS) and allow you to have total control over the operating system and environment. This is ideal when you need to run custom software or hosting configurations.</a:t>
            </a:r>
            <a:endParaRPr lang="en-IN" b="0" i="0" dirty="0">
              <a:solidFill>
                <a:srgbClr val="2D2F31"/>
              </a:solidFill>
              <a:effectLst/>
              <a:latin typeface="Udemy Sans"/>
            </a:endParaRPr>
          </a:p>
        </p:txBody>
      </p:sp>
      <p:sp>
        <p:nvSpPr>
          <p:cNvPr id="5" name="TextBox 4">
            <a:extLst>
              <a:ext uri="{FF2B5EF4-FFF2-40B4-BE49-F238E27FC236}">
                <a16:creationId xmlns:a16="http://schemas.microsoft.com/office/drawing/2014/main" id="{34C962D0-593E-9601-C1C3-D033CF569ACC}"/>
              </a:ext>
            </a:extLst>
          </p:cNvPr>
          <p:cNvSpPr txBox="1"/>
          <p:nvPr/>
        </p:nvSpPr>
        <p:spPr>
          <a:xfrm>
            <a:off x="413766" y="3102924"/>
            <a:ext cx="11217402" cy="2585323"/>
          </a:xfrm>
          <a:prstGeom prst="rect">
            <a:avLst/>
          </a:prstGeom>
          <a:noFill/>
        </p:spPr>
        <p:txBody>
          <a:bodyPr wrap="square">
            <a:spAutoFit/>
          </a:bodyPr>
          <a:lstStyle/>
          <a:p>
            <a:pPr algn="l"/>
            <a:r>
              <a:rPr lang="en-IN" b="1" i="0" dirty="0">
                <a:solidFill>
                  <a:srgbClr val="2D2F31"/>
                </a:solidFill>
                <a:effectLst/>
                <a:latin typeface="Udemy Sans"/>
              </a:rPr>
              <a:t>Your company has a hybrid cloud environment that includes on-premises servers, AWS instances, and Azure resources. You want to manage all these resources through a single pane of glass. Which Azure service would you use?</a:t>
            </a:r>
            <a:endParaRPr lang="en-IN" b="0" i="0" dirty="0">
              <a:solidFill>
                <a:srgbClr val="2D2F31"/>
              </a:solidFill>
              <a:effectLst/>
              <a:latin typeface="Udemy Sans"/>
            </a:endParaRPr>
          </a:p>
          <a:p>
            <a:pPr algn="l"/>
            <a:r>
              <a:rPr lang="en-IN" b="0" i="0" dirty="0">
                <a:solidFill>
                  <a:srgbClr val="2D2F31"/>
                </a:solidFill>
                <a:effectLst/>
                <a:latin typeface="Udemy Sans"/>
              </a:rPr>
              <a:t>      A) Azure Monitor</a:t>
            </a:r>
          </a:p>
          <a:p>
            <a:pPr algn="l"/>
            <a:r>
              <a:rPr lang="en-IN" b="0" i="0" dirty="0">
                <a:solidFill>
                  <a:srgbClr val="2D2F31"/>
                </a:solidFill>
                <a:effectLst/>
                <a:latin typeface="Udemy Sans"/>
              </a:rPr>
              <a:t>      B) Azure Site Recovery</a:t>
            </a:r>
          </a:p>
          <a:p>
            <a:pPr algn="l"/>
            <a:r>
              <a:rPr lang="en-IN" b="1" i="0" dirty="0">
                <a:solidFill>
                  <a:srgbClr val="2D2F31"/>
                </a:solidFill>
                <a:effectLst/>
                <a:latin typeface="Udemy Sans"/>
              </a:rPr>
              <a:t>    </a:t>
            </a:r>
            <a:r>
              <a:rPr lang="en-IN" i="0" dirty="0">
                <a:solidFill>
                  <a:srgbClr val="2D2F31"/>
                </a:solidFill>
                <a:effectLst/>
                <a:latin typeface="Udemy Sans"/>
              </a:rPr>
              <a:t>  C) Azure Arc</a:t>
            </a:r>
          </a:p>
          <a:p>
            <a:pPr algn="l"/>
            <a:r>
              <a:rPr lang="en-IN" b="0" i="0" dirty="0">
                <a:solidFill>
                  <a:srgbClr val="2D2F31"/>
                </a:solidFill>
                <a:effectLst/>
                <a:latin typeface="Udemy Sans"/>
              </a:rPr>
              <a:t>      D) Azure DevOps</a:t>
            </a:r>
          </a:p>
          <a:p>
            <a:pPr algn="l"/>
            <a:r>
              <a:rPr lang="en-IN" b="1" i="1" dirty="0">
                <a:solidFill>
                  <a:srgbClr val="2D2F31"/>
                </a:solidFill>
                <a:effectLst/>
                <a:latin typeface="Udemy Sans"/>
              </a:rPr>
              <a:t>Explanation:</a:t>
            </a:r>
            <a:r>
              <a:rPr lang="en-IN" b="0" i="1" dirty="0">
                <a:solidFill>
                  <a:srgbClr val="2D2F31"/>
                </a:solidFill>
                <a:effectLst/>
                <a:latin typeface="Udemy Sans"/>
              </a:rPr>
              <a:t> Azure Arc allows you to manage resources across on-premises, multiple clouds, and edge through a unified management platform.</a:t>
            </a:r>
            <a:endParaRPr lang="en-IN" b="0" i="0" dirty="0">
              <a:solidFill>
                <a:srgbClr val="2D2F31"/>
              </a:solidFill>
              <a:effectLst/>
              <a:latin typeface="Udemy Sans"/>
            </a:endParaRPr>
          </a:p>
        </p:txBody>
      </p:sp>
    </p:spTree>
    <p:extLst>
      <p:ext uri="{BB962C8B-B14F-4D97-AF65-F5344CB8AC3E}">
        <p14:creationId xmlns:p14="http://schemas.microsoft.com/office/powerpoint/2010/main" val="2939738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45E2F8-9B45-6E8F-5C5E-60662DE6212F}"/>
              </a:ext>
            </a:extLst>
          </p:cNvPr>
          <p:cNvSpPr txBox="1"/>
          <p:nvPr/>
        </p:nvSpPr>
        <p:spPr>
          <a:xfrm>
            <a:off x="350138" y="41040"/>
            <a:ext cx="11491722" cy="2308324"/>
          </a:xfrm>
          <a:prstGeom prst="rect">
            <a:avLst/>
          </a:prstGeom>
          <a:noFill/>
        </p:spPr>
        <p:txBody>
          <a:bodyPr wrap="square">
            <a:spAutoFit/>
          </a:bodyPr>
          <a:lstStyle/>
          <a:p>
            <a:pPr algn="l"/>
            <a:r>
              <a:rPr lang="en-IN" b="1" i="0" dirty="0">
                <a:solidFill>
                  <a:srgbClr val="2D2F31"/>
                </a:solidFill>
                <a:effectLst/>
                <a:latin typeface="Udemy Sans"/>
              </a:rPr>
              <a:t>You are the Azure administrator for a large organization. You want to customize billing to meet the needs of different departments. What feature of Azure Cost Management and Billing tool would you use?</a:t>
            </a:r>
            <a:endParaRPr lang="en-IN" b="0" i="0" dirty="0">
              <a:solidFill>
                <a:srgbClr val="2D2F31"/>
              </a:solidFill>
              <a:effectLst/>
              <a:latin typeface="Udemy Sans"/>
            </a:endParaRPr>
          </a:p>
          <a:p>
            <a:pPr algn="l"/>
            <a:r>
              <a:rPr lang="en-IN" b="0" i="0" dirty="0">
                <a:solidFill>
                  <a:srgbClr val="2D2F31"/>
                </a:solidFill>
                <a:effectLst/>
                <a:latin typeface="Udemy Sans"/>
              </a:rPr>
              <a:t>      A) Cost Analysis</a:t>
            </a:r>
          </a:p>
          <a:p>
            <a:pPr algn="l"/>
            <a:r>
              <a:rPr lang="en-IN" b="0" i="0" dirty="0">
                <a:solidFill>
                  <a:srgbClr val="2D2F31"/>
                </a:solidFill>
                <a:effectLst/>
                <a:latin typeface="Udemy Sans"/>
              </a:rPr>
              <a:t>      B) Budgets</a:t>
            </a:r>
          </a:p>
          <a:p>
            <a:pPr algn="l"/>
            <a:r>
              <a:rPr lang="en-IN" b="1" i="0" dirty="0">
                <a:solidFill>
                  <a:srgbClr val="2D2F31"/>
                </a:solidFill>
                <a:effectLst/>
                <a:latin typeface="Udemy Sans"/>
              </a:rPr>
              <a:t>      </a:t>
            </a:r>
            <a:r>
              <a:rPr lang="en-IN" i="0" dirty="0">
                <a:solidFill>
                  <a:srgbClr val="2D2F31"/>
                </a:solidFill>
                <a:effectLst/>
                <a:latin typeface="Udemy Sans"/>
              </a:rPr>
              <a:t>C) Invoice Sections</a:t>
            </a:r>
          </a:p>
          <a:p>
            <a:pPr algn="l"/>
            <a:r>
              <a:rPr lang="en-IN" b="0" i="0" dirty="0">
                <a:solidFill>
                  <a:srgbClr val="2D2F31"/>
                </a:solidFill>
                <a:effectLst/>
                <a:latin typeface="Udemy Sans"/>
              </a:rPr>
              <a:t>      D) Cost Allocation</a:t>
            </a:r>
          </a:p>
          <a:p>
            <a:pPr algn="l"/>
            <a:r>
              <a:rPr lang="en-IN" b="1" i="1" dirty="0">
                <a:solidFill>
                  <a:srgbClr val="2D2F31"/>
                </a:solidFill>
                <a:effectLst/>
                <a:latin typeface="Udemy Sans"/>
              </a:rPr>
              <a:t>Explanation:</a:t>
            </a:r>
            <a:r>
              <a:rPr lang="en-IN" b="0" i="1" dirty="0">
                <a:solidFill>
                  <a:srgbClr val="2D2F31"/>
                </a:solidFill>
                <a:effectLst/>
                <a:latin typeface="Udemy Sans"/>
              </a:rPr>
              <a:t> Invoice Sections allow you to organize charges by department, team, or project within the same billing account. Each invoice section is a line item on the invoice that shows the charges incurred that month.</a:t>
            </a:r>
            <a:endParaRPr lang="en-IN" b="0" i="0" dirty="0">
              <a:solidFill>
                <a:srgbClr val="2D2F31"/>
              </a:solidFill>
              <a:effectLst/>
              <a:latin typeface="Udemy Sans"/>
            </a:endParaRPr>
          </a:p>
        </p:txBody>
      </p:sp>
      <p:sp>
        <p:nvSpPr>
          <p:cNvPr id="5" name="TextBox 4">
            <a:extLst>
              <a:ext uri="{FF2B5EF4-FFF2-40B4-BE49-F238E27FC236}">
                <a16:creationId xmlns:a16="http://schemas.microsoft.com/office/drawing/2014/main" id="{AF554BF3-FB02-7357-928F-1618B8C3B5A5}"/>
              </a:ext>
            </a:extLst>
          </p:cNvPr>
          <p:cNvSpPr txBox="1"/>
          <p:nvPr/>
        </p:nvSpPr>
        <p:spPr>
          <a:xfrm>
            <a:off x="350138" y="2438108"/>
            <a:ext cx="11272266" cy="2308324"/>
          </a:xfrm>
          <a:prstGeom prst="rect">
            <a:avLst/>
          </a:prstGeom>
          <a:noFill/>
        </p:spPr>
        <p:txBody>
          <a:bodyPr wrap="square">
            <a:spAutoFit/>
          </a:bodyPr>
          <a:lstStyle/>
          <a:p>
            <a:pPr algn="l"/>
            <a:r>
              <a:rPr lang="en-IN" b="1" i="0" dirty="0">
                <a:solidFill>
                  <a:srgbClr val="2D2F31"/>
                </a:solidFill>
                <a:effectLst/>
                <a:latin typeface="Udemy Sans"/>
              </a:rPr>
              <a:t>You are tasked with migrating a large amount of offline data to Azure. Which Azure service would you use to securely transfer this data?</a:t>
            </a:r>
            <a:endParaRPr lang="en-IN" b="0" i="0" dirty="0">
              <a:solidFill>
                <a:srgbClr val="2D2F31"/>
              </a:solidFill>
              <a:effectLst/>
              <a:latin typeface="Udemy Sans"/>
            </a:endParaRPr>
          </a:p>
          <a:p>
            <a:pPr algn="l"/>
            <a:r>
              <a:rPr lang="en-IN" b="1" i="0" dirty="0">
                <a:solidFill>
                  <a:srgbClr val="2D2F31"/>
                </a:solidFill>
                <a:effectLst/>
                <a:latin typeface="Udemy Sans"/>
              </a:rPr>
              <a:t>      </a:t>
            </a:r>
            <a:r>
              <a:rPr lang="en-IN" i="0" dirty="0">
                <a:solidFill>
                  <a:srgbClr val="2D2F31"/>
                </a:solidFill>
                <a:effectLst/>
                <a:latin typeface="Udemy Sans"/>
              </a:rPr>
              <a:t>A) Azure Data Box</a:t>
            </a:r>
          </a:p>
          <a:p>
            <a:pPr algn="l"/>
            <a:r>
              <a:rPr lang="en-IN" b="0" i="0" dirty="0">
                <a:solidFill>
                  <a:srgbClr val="2D2F31"/>
                </a:solidFill>
                <a:effectLst/>
                <a:latin typeface="Udemy Sans"/>
              </a:rPr>
              <a:t>      B) Azure SQL Database</a:t>
            </a:r>
          </a:p>
          <a:p>
            <a:pPr algn="l"/>
            <a:r>
              <a:rPr lang="en-IN" b="0" i="0" dirty="0">
                <a:solidFill>
                  <a:srgbClr val="2D2F31"/>
                </a:solidFill>
                <a:effectLst/>
                <a:latin typeface="Udemy Sans"/>
              </a:rPr>
              <a:t>      C) Azure Blob Storage</a:t>
            </a:r>
          </a:p>
          <a:p>
            <a:pPr algn="l"/>
            <a:r>
              <a:rPr lang="en-IN" b="0" i="0" dirty="0">
                <a:solidFill>
                  <a:srgbClr val="2D2F31"/>
                </a:solidFill>
                <a:effectLst/>
                <a:latin typeface="Udemy Sans"/>
              </a:rPr>
              <a:t>      D) Azure Data Lake Storage</a:t>
            </a:r>
          </a:p>
          <a:p>
            <a:pPr algn="l"/>
            <a:r>
              <a:rPr lang="en-IN" b="1" i="1" dirty="0">
                <a:solidFill>
                  <a:srgbClr val="2D2F31"/>
                </a:solidFill>
                <a:effectLst/>
                <a:latin typeface="Udemy Sans"/>
              </a:rPr>
              <a:t>Explanation: </a:t>
            </a:r>
            <a:r>
              <a:rPr lang="en-IN" b="0" i="1" dirty="0">
                <a:solidFill>
                  <a:srgbClr val="2D2F31"/>
                </a:solidFill>
                <a:effectLst/>
                <a:latin typeface="Udemy Sans"/>
              </a:rPr>
              <a:t>Azure Data Box is used to migrate large amounts of offline data to Azure. The secure data transfer is facilitated by a physical Data Box storage device that Microsoft ships to you.</a:t>
            </a:r>
            <a:endParaRPr lang="en-IN" b="0" i="0" dirty="0">
              <a:solidFill>
                <a:srgbClr val="2D2F31"/>
              </a:solidFill>
              <a:effectLst/>
              <a:latin typeface="Udemy Sans"/>
            </a:endParaRPr>
          </a:p>
        </p:txBody>
      </p:sp>
      <p:sp>
        <p:nvSpPr>
          <p:cNvPr id="7" name="TextBox 6">
            <a:extLst>
              <a:ext uri="{FF2B5EF4-FFF2-40B4-BE49-F238E27FC236}">
                <a16:creationId xmlns:a16="http://schemas.microsoft.com/office/drawing/2014/main" id="{52CAA8A5-D20A-2228-2979-F43BB60BF746}"/>
              </a:ext>
            </a:extLst>
          </p:cNvPr>
          <p:cNvSpPr txBox="1"/>
          <p:nvPr/>
        </p:nvSpPr>
        <p:spPr>
          <a:xfrm>
            <a:off x="350138" y="4835176"/>
            <a:ext cx="11841861" cy="2031325"/>
          </a:xfrm>
          <a:prstGeom prst="rect">
            <a:avLst/>
          </a:prstGeom>
          <a:noFill/>
        </p:spPr>
        <p:txBody>
          <a:bodyPr wrap="square">
            <a:spAutoFit/>
          </a:bodyPr>
          <a:lstStyle/>
          <a:p>
            <a:pPr algn="l"/>
            <a:r>
              <a:rPr lang="en-IN" b="1" i="0" dirty="0">
                <a:solidFill>
                  <a:srgbClr val="2D2F31"/>
                </a:solidFill>
                <a:effectLst/>
                <a:latin typeface="Udemy Sans"/>
              </a:rPr>
              <a:t>Which type of VPN gateway connectivity allows individual devices to connect to virtual networks?</a:t>
            </a:r>
            <a:endParaRPr lang="en-IN" b="0" i="0" dirty="0">
              <a:solidFill>
                <a:srgbClr val="2D2F31"/>
              </a:solidFill>
              <a:effectLst/>
              <a:latin typeface="Udemy Sans"/>
            </a:endParaRPr>
          </a:p>
          <a:p>
            <a:pPr algn="l"/>
            <a:r>
              <a:rPr lang="en-IN" b="0" i="0" dirty="0">
                <a:solidFill>
                  <a:srgbClr val="2D2F31"/>
                </a:solidFill>
                <a:effectLst/>
                <a:latin typeface="Udemy Sans"/>
              </a:rPr>
              <a:t>      A) Site-to-Site</a:t>
            </a:r>
          </a:p>
          <a:p>
            <a:pPr algn="l"/>
            <a:r>
              <a:rPr lang="en-IN" b="0" i="0" dirty="0">
                <a:solidFill>
                  <a:srgbClr val="2D2F31"/>
                </a:solidFill>
                <a:effectLst/>
                <a:latin typeface="Udemy Sans"/>
              </a:rPr>
              <a:t>     </a:t>
            </a:r>
            <a:r>
              <a:rPr lang="en-IN" b="1" i="0" dirty="0">
                <a:solidFill>
                  <a:srgbClr val="2D2F31"/>
                </a:solidFill>
                <a:effectLst/>
                <a:latin typeface="Udemy Sans"/>
              </a:rPr>
              <a:t> </a:t>
            </a:r>
            <a:r>
              <a:rPr lang="en-IN" i="0" dirty="0">
                <a:solidFill>
                  <a:srgbClr val="2D2F31"/>
                </a:solidFill>
                <a:effectLst/>
                <a:latin typeface="Udemy Sans"/>
              </a:rPr>
              <a:t>B) Point-to-Site</a:t>
            </a:r>
          </a:p>
          <a:p>
            <a:pPr algn="l"/>
            <a:r>
              <a:rPr lang="en-IN" b="0" i="0" dirty="0">
                <a:solidFill>
                  <a:srgbClr val="2D2F31"/>
                </a:solidFill>
                <a:effectLst/>
                <a:latin typeface="Udemy Sans"/>
              </a:rPr>
              <a:t>      C) Network-to-Network</a:t>
            </a:r>
          </a:p>
          <a:p>
            <a:pPr algn="l"/>
            <a:r>
              <a:rPr lang="en-IN" b="0" i="0" dirty="0">
                <a:solidFill>
                  <a:srgbClr val="2D2F31"/>
                </a:solidFill>
                <a:effectLst/>
                <a:latin typeface="Udemy Sans"/>
              </a:rPr>
              <a:t>      D) Device-to-Device</a:t>
            </a:r>
          </a:p>
          <a:p>
            <a:pPr algn="l"/>
            <a:r>
              <a:rPr lang="en-IN" b="1" i="1" dirty="0">
                <a:solidFill>
                  <a:srgbClr val="2D2F31"/>
                </a:solidFill>
                <a:effectLst/>
                <a:latin typeface="Udemy Sans"/>
              </a:rPr>
              <a:t>Explanation: </a:t>
            </a:r>
            <a:r>
              <a:rPr lang="en-IN" b="0" i="1" dirty="0">
                <a:solidFill>
                  <a:srgbClr val="2D2F31"/>
                </a:solidFill>
                <a:effectLst/>
                <a:latin typeface="Udemy Sans"/>
              </a:rPr>
              <a:t>A VPN gateway is a type of virtual network gateway that enables various types of connectivity. Point-to-Site connectivity allows individual devices to connect to virtual networks.</a:t>
            </a:r>
            <a:endParaRPr lang="en-IN" b="0" i="0" dirty="0">
              <a:solidFill>
                <a:srgbClr val="2D2F31"/>
              </a:solidFill>
              <a:effectLst/>
              <a:latin typeface="Udemy Sans"/>
            </a:endParaRPr>
          </a:p>
        </p:txBody>
      </p:sp>
    </p:spTree>
    <p:extLst>
      <p:ext uri="{BB962C8B-B14F-4D97-AF65-F5344CB8AC3E}">
        <p14:creationId xmlns:p14="http://schemas.microsoft.com/office/powerpoint/2010/main" val="1037711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D6119F-F45A-8502-E5F6-307CFD3669FB}"/>
              </a:ext>
            </a:extLst>
          </p:cNvPr>
          <p:cNvSpPr txBox="1"/>
          <p:nvPr/>
        </p:nvSpPr>
        <p:spPr>
          <a:xfrm>
            <a:off x="203454" y="135142"/>
            <a:ext cx="11784330" cy="2031325"/>
          </a:xfrm>
          <a:prstGeom prst="rect">
            <a:avLst/>
          </a:prstGeom>
          <a:noFill/>
        </p:spPr>
        <p:txBody>
          <a:bodyPr wrap="square">
            <a:spAutoFit/>
          </a:bodyPr>
          <a:lstStyle/>
          <a:p>
            <a:pPr algn="l"/>
            <a:r>
              <a:rPr lang="en-IN" b="1" i="0" dirty="0">
                <a:solidFill>
                  <a:srgbClr val="2D2F31"/>
                </a:solidFill>
                <a:effectLst/>
                <a:latin typeface="Udemy Sans"/>
              </a:rPr>
              <a:t>What type of data does Azure Table Storage primarily store?</a:t>
            </a:r>
            <a:endParaRPr lang="en-IN" b="0" i="0" dirty="0">
              <a:solidFill>
                <a:srgbClr val="2D2F31"/>
              </a:solidFill>
              <a:effectLst/>
              <a:latin typeface="Udemy Sans"/>
            </a:endParaRPr>
          </a:p>
          <a:p>
            <a:pPr algn="l"/>
            <a:r>
              <a:rPr lang="en-IN" b="0" i="0" dirty="0">
                <a:solidFill>
                  <a:srgbClr val="2D2F31"/>
                </a:solidFill>
                <a:effectLst/>
                <a:latin typeface="Udemy Sans"/>
              </a:rPr>
              <a:t>      A) Relational structured data</a:t>
            </a:r>
          </a:p>
          <a:p>
            <a:pPr algn="l"/>
            <a:r>
              <a:rPr lang="en-IN" b="0" i="0" dirty="0">
                <a:solidFill>
                  <a:srgbClr val="2D2F31"/>
                </a:solidFill>
                <a:effectLst/>
                <a:latin typeface="Udemy Sans"/>
              </a:rPr>
              <a:t>      </a:t>
            </a:r>
            <a:r>
              <a:rPr lang="en-IN" i="0" dirty="0">
                <a:solidFill>
                  <a:srgbClr val="2D2F31"/>
                </a:solidFill>
                <a:effectLst/>
                <a:latin typeface="Udemy Sans"/>
              </a:rPr>
              <a:t>B) Non-relational structured data</a:t>
            </a:r>
          </a:p>
          <a:p>
            <a:pPr algn="l"/>
            <a:r>
              <a:rPr lang="en-IN" b="0" i="0" dirty="0">
                <a:solidFill>
                  <a:srgbClr val="2D2F31"/>
                </a:solidFill>
                <a:effectLst/>
                <a:latin typeface="Udemy Sans"/>
              </a:rPr>
              <a:t>      C) Unstructured data</a:t>
            </a:r>
          </a:p>
          <a:p>
            <a:pPr algn="l"/>
            <a:r>
              <a:rPr lang="en-IN" b="0" i="0" dirty="0">
                <a:solidFill>
                  <a:srgbClr val="2D2F31"/>
                </a:solidFill>
                <a:effectLst/>
                <a:latin typeface="Udemy Sans"/>
              </a:rPr>
              <a:t>      D) Semi-structured data</a:t>
            </a:r>
          </a:p>
          <a:p>
            <a:pPr algn="l"/>
            <a:r>
              <a:rPr lang="en-IN" b="1" i="1" dirty="0">
                <a:solidFill>
                  <a:srgbClr val="2D2F31"/>
                </a:solidFill>
                <a:effectLst/>
                <a:latin typeface="Udemy Sans"/>
              </a:rPr>
              <a:t>Explanation: </a:t>
            </a:r>
            <a:r>
              <a:rPr lang="en-IN" b="0" i="1" dirty="0">
                <a:solidFill>
                  <a:srgbClr val="2D2F31"/>
                </a:solidFill>
                <a:effectLst/>
                <a:latin typeface="Udemy Sans"/>
              </a:rPr>
              <a:t>Azure Table Storage is a service that stores non-relational structured data (also known as structured NoSQL data) in the cloud.</a:t>
            </a:r>
            <a:endParaRPr lang="en-IN" b="0" i="0" dirty="0">
              <a:solidFill>
                <a:srgbClr val="2D2F31"/>
              </a:solidFill>
              <a:effectLst/>
              <a:latin typeface="Udemy Sans"/>
            </a:endParaRPr>
          </a:p>
        </p:txBody>
      </p:sp>
      <p:sp>
        <p:nvSpPr>
          <p:cNvPr id="5" name="TextBox 4">
            <a:extLst>
              <a:ext uri="{FF2B5EF4-FFF2-40B4-BE49-F238E27FC236}">
                <a16:creationId xmlns:a16="http://schemas.microsoft.com/office/drawing/2014/main" id="{DAAEF8D7-8D25-E7F8-3298-5CB8778D46AE}"/>
              </a:ext>
            </a:extLst>
          </p:cNvPr>
          <p:cNvSpPr txBox="1"/>
          <p:nvPr/>
        </p:nvSpPr>
        <p:spPr>
          <a:xfrm>
            <a:off x="203454" y="2166467"/>
            <a:ext cx="11619738" cy="2308324"/>
          </a:xfrm>
          <a:prstGeom prst="rect">
            <a:avLst/>
          </a:prstGeom>
          <a:noFill/>
        </p:spPr>
        <p:txBody>
          <a:bodyPr wrap="square">
            <a:spAutoFit/>
          </a:bodyPr>
          <a:lstStyle/>
          <a:p>
            <a:pPr algn="l"/>
            <a:r>
              <a:rPr lang="en-IN" b="1" i="0" dirty="0">
                <a:solidFill>
                  <a:srgbClr val="2D2F31"/>
                </a:solidFill>
                <a:effectLst/>
                <a:latin typeface="Udemy Sans"/>
              </a:rPr>
              <a:t>You are a cloud architect and your company wants to deploy a new application that requires a lot of computational power for a short period. Which Azure Virtual Machine series would be most cost-effective for this scenario?</a:t>
            </a:r>
            <a:endParaRPr lang="en-IN" b="0" i="0" dirty="0">
              <a:solidFill>
                <a:srgbClr val="2D2F31"/>
              </a:solidFill>
              <a:effectLst/>
              <a:latin typeface="Udemy Sans"/>
            </a:endParaRPr>
          </a:p>
          <a:p>
            <a:pPr algn="l"/>
            <a:r>
              <a:rPr lang="en-IN" b="0" i="0" dirty="0">
                <a:solidFill>
                  <a:srgbClr val="2D2F31"/>
                </a:solidFill>
                <a:effectLst/>
                <a:latin typeface="Udemy Sans"/>
              </a:rPr>
              <a:t>      A) A-series</a:t>
            </a:r>
          </a:p>
          <a:p>
            <a:pPr algn="l"/>
            <a:r>
              <a:rPr lang="en-IN" b="0" i="0" dirty="0">
                <a:solidFill>
                  <a:srgbClr val="2D2F31"/>
                </a:solidFill>
                <a:effectLst/>
                <a:latin typeface="Udemy Sans"/>
              </a:rPr>
              <a:t>      B) B-series</a:t>
            </a:r>
          </a:p>
          <a:p>
            <a:pPr algn="l"/>
            <a:r>
              <a:rPr lang="en-IN" b="0" i="0" dirty="0">
                <a:solidFill>
                  <a:srgbClr val="2D2F31"/>
                </a:solidFill>
                <a:effectLst/>
                <a:latin typeface="Udemy Sans"/>
              </a:rPr>
              <a:t>      C) D-series</a:t>
            </a:r>
          </a:p>
          <a:p>
            <a:pPr algn="l"/>
            <a:r>
              <a:rPr lang="en-IN" b="0" i="0" dirty="0">
                <a:solidFill>
                  <a:srgbClr val="2D2F31"/>
                </a:solidFill>
                <a:effectLst/>
                <a:latin typeface="Udemy Sans"/>
              </a:rPr>
              <a:t>      </a:t>
            </a:r>
            <a:r>
              <a:rPr lang="en-IN" i="0" dirty="0">
                <a:solidFill>
                  <a:srgbClr val="2D2F31"/>
                </a:solidFill>
                <a:effectLst/>
                <a:latin typeface="Udemy Sans"/>
              </a:rPr>
              <a:t>D) F-series</a:t>
            </a:r>
          </a:p>
          <a:p>
            <a:pPr algn="l"/>
            <a:r>
              <a:rPr lang="en-IN" b="1" i="1" dirty="0">
                <a:solidFill>
                  <a:srgbClr val="2D2F31"/>
                </a:solidFill>
                <a:effectLst/>
                <a:latin typeface="Udemy Sans"/>
              </a:rPr>
              <a:t>Explanation: </a:t>
            </a:r>
            <a:r>
              <a:rPr lang="en-IN" b="0" i="1" dirty="0">
                <a:solidFill>
                  <a:srgbClr val="2D2F31"/>
                </a:solidFill>
                <a:effectLst/>
                <a:latin typeface="Udemy Sans"/>
              </a:rPr>
              <a:t>The F-series VMs are optimized for compute-intensive workloads and would be the most cost-effective for applications requiring high computational power for a short period.</a:t>
            </a:r>
            <a:endParaRPr lang="en-IN" b="0" i="0" dirty="0">
              <a:solidFill>
                <a:srgbClr val="2D2F31"/>
              </a:solidFill>
              <a:effectLst/>
              <a:latin typeface="Udemy Sans"/>
            </a:endParaRPr>
          </a:p>
        </p:txBody>
      </p:sp>
      <p:sp>
        <p:nvSpPr>
          <p:cNvPr id="7" name="TextBox 6">
            <a:extLst>
              <a:ext uri="{FF2B5EF4-FFF2-40B4-BE49-F238E27FC236}">
                <a16:creationId xmlns:a16="http://schemas.microsoft.com/office/drawing/2014/main" id="{1717538C-57B5-8DDB-5C39-99CCA91AE2F4}"/>
              </a:ext>
            </a:extLst>
          </p:cNvPr>
          <p:cNvSpPr txBox="1"/>
          <p:nvPr/>
        </p:nvSpPr>
        <p:spPr>
          <a:xfrm>
            <a:off x="121158" y="4474791"/>
            <a:ext cx="11784330" cy="2308324"/>
          </a:xfrm>
          <a:prstGeom prst="rect">
            <a:avLst/>
          </a:prstGeom>
          <a:noFill/>
        </p:spPr>
        <p:txBody>
          <a:bodyPr wrap="square">
            <a:spAutoFit/>
          </a:bodyPr>
          <a:lstStyle/>
          <a:p>
            <a:pPr algn="l"/>
            <a:r>
              <a:rPr lang="en-IN" b="1" i="0" dirty="0">
                <a:solidFill>
                  <a:srgbClr val="2D2F31"/>
                </a:solidFill>
                <a:effectLst/>
                <a:latin typeface="Udemy Sans"/>
              </a:rPr>
              <a:t>For executing small pieces of code in response to events, the best-suited Azure service is ____________.</a:t>
            </a:r>
            <a:endParaRPr lang="en-IN" b="0" i="0" dirty="0">
              <a:solidFill>
                <a:srgbClr val="2D2F31"/>
              </a:solidFill>
              <a:effectLst/>
              <a:latin typeface="Udemy Sans"/>
            </a:endParaRPr>
          </a:p>
          <a:p>
            <a:pPr algn="l"/>
            <a:r>
              <a:rPr lang="en-IN" b="0" i="0" dirty="0">
                <a:solidFill>
                  <a:srgbClr val="2D2F31"/>
                </a:solidFill>
                <a:effectLst/>
                <a:latin typeface="Udemy Sans"/>
              </a:rPr>
              <a:t>      A) Azure Virtual Machines</a:t>
            </a:r>
          </a:p>
          <a:p>
            <a:pPr algn="l"/>
            <a:r>
              <a:rPr lang="en-IN" b="0" i="0" dirty="0">
                <a:solidFill>
                  <a:srgbClr val="2D2F31"/>
                </a:solidFill>
                <a:effectLst/>
                <a:latin typeface="Udemy Sans"/>
              </a:rPr>
              <a:t>      B) Azure App Service</a:t>
            </a:r>
          </a:p>
          <a:p>
            <a:pPr algn="l"/>
            <a:r>
              <a:rPr lang="en-IN" b="0" i="0" dirty="0">
                <a:solidFill>
                  <a:srgbClr val="2D2F31"/>
                </a:solidFill>
                <a:effectLst/>
                <a:latin typeface="Udemy Sans"/>
              </a:rPr>
              <a:t>      </a:t>
            </a:r>
            <a:r>
              <a:rPr lang="en-IN" i="0" dirty="0">
                <a:solidFill>
                  <a:srgbClr val="2D2F31"/>
                </a:solidFill>
                <a:effectLst/>
                <a:latin typeface="Udemy Sans"/>
              </a:rPr>
              <a:t>C) Azure Functions</a:t>
            </a:r>
          </a:p>
          <a:p>
            <a:pPr algn="l"/>
            <a:r>
              <a:rPr lang="en-IN" b="0" i="0" dirty="0">
                <a:solidFill>
                  <a:srgbClr val="2D2F31"/>
                </a:solidFill>
                <a:effectLst/>
                <a:latin typeface="Udemy Sans"/>
              </a:rPr>
              <a:t>      D) Azure Kubernetes Service</a:t>
            </a:r>
          </a:p>
          <a:p>
            <a:pPr algn="l"/>
            <a:r>
              <a:rPr lang="en-IN" b="1" i="1" dirty="0">
                <a:solidFill>
                  <a:srgbClr val="2D2F31"/>
                </a:solidFill>
                <a:effectLst/>
                <a:latin typeface="Udemy Sans"/>
              </a:rPr>
              <a:t>Explanation: </a:t>
            </a:r>
            <a:r>
              <a:rPr lang="en-IN" b="0" i="1" dirty="0">
                <a:solidFill>
                  <a:srgbClr val="2D2F31"/>
                </a:solidFill>
                <a:effectLst/>
                <a:latin typeface="Udemy Sans"/>
              </a:rPr>
              <a:t>Azure Functions is a serverless solution that allows you to write less code, maintain less infrastructure, and save on costs. Instead of worrying about deploying and maintaining servers, the cloud infrastructure provides all the up-to-date resources needed to keep your applications running.</a:t>
            </a:r>
            <a:endParaRPr lang="en-IN" b="0" i="0" dirty="0">
              <a:solidFill>
                <a:srgbClr val="2D2F31"/>
              </a:solidFill>
              <a:effectLst/>
              <a:latin typeface="Udemy Sans"/>
            </a:endParaRPr>
          </a:p>
        </p:txBody>
      </p:sp>
    </p:spTree>
    <p:extLst>
      <p:ext uri="{BB962C8B-B14F-4D97-AF65-F5344CB8AC3E}">
        <p14:creationId xmlns:p14="http://schemas.microsoft.com/office/powerpoint/2010/main" val="129835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E01208-42BC-99BB-670E-DFC815266A35}"/>
              </a:ext>
            </a:extLst>
          </p:cNvPr>
          <p:cNvSpPr txBox="1"/>
          <p:nvPr/>
        </p:nvSpPr>
        <p:spPr>
          <a:xfrm>
            <a:off x="752094" y="674870"/>
            <a:ext cx="6094476" cy="369332"/>
          </a:xfrm>
          <a:prstGeom prst="rect">
            <a:avLst/>
          </a:prstGeom>
          <a:noFill/>
        </p:spPr>
        <p:txBody>
          <a:bodyPr wrap="square">
            <a:spAutoFit/>
          </a:bodyPr>
          <a:lstStyle/>
          <a:p>
            <a:r>
              <a:rPr lang="en-IN" b="0" i="0" dirty="0">
                <a:solidFill>
                  <a:srgbClr val="2D2F31"/>
                </a:solidFill>
                <a:effectLst/>
                <a:latin typeface="Udemy Sans"/>
              </a:rPr>
              <a:t>10. Describe The Shared-Responsibility Model</a:t>
            </a:r>
            <a:endParaRPr lang="en-IN" dirty="0"/>
          </a:p>
        </p:txBody>
      </p:sp>
      <p:pic>
        <p:nvPicPr>
          <p:cNvPr id="5" name="Picture 4">
            <a:extLst>
              <a:ext uri="{FF2B5EF4-FFF2-40B4-BE49-F238E27FC236}">
                <a16:creationId xmlns:a16="http://schemas.microsoft.com/office/drawing/2014/main" id="{5E5A5A28-11C0-9070-34B3-409FD72196AC}"/>
              </a:ext>
            </a:extLst>
          </p:cNvPr>
          <p:cNvPicPr>
            <a:picLocks noChangeAspect="1"/>
          </p:cNvPicPr>
          <p:nvPr/>
        </p:nvPicPr>
        <p:blipFill>
          <a:blip r:embed="rId2"/>
          <a:stretch>
            <a:fillRect/>
          </a:stretch>
        </p:blipFill>
        <p:spPr>
          <a:xfrm>
            <a:off x="1980988" y="990474"/>
            <a:ext cx="8230023" cy="4877051"/>
          </a:xfrm>
          <a:prstGeom prst="rect">
            <a:avLst/>
          </a:prstGeom>
        </p:spPr>
      </p:pic>
    </p:spTree>
    <p:extLst>
      <p:ext uri="{BB962C8B-B14F-4D97-AF65-F5344CB8AC3E}">
        <p14:creationId xmlns:p14="http://schemas.microsoft.com/office/powerpoint/2010/main" val="264520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659904-957E-4745-620A-2AACAEFBD55E}"/>
              </a:ext>
            </a:extLst>
          </p:cNvPr>
          <p:cNvSpPr txBox="1"/>
          <p:nvPr/>
        </p:nvSpPr>
        <p:spPr>
          <a:xfrm>
            <a:off x="356616" y="670288"/>
            <a:ext cx="11265408" cy="5909310"/>
          </a:xfrm>
          <a:prstGeom prst="rect">
            <a:avLst/>
          </a:prstGeom>
          <a:noFill/>
        </p:spPr>
        <p:txBody>
          <a:bodyPr wrap="square">
            <a:spAutoFit/>
          </a:bodyPr>
          <a:lstStyle/>
          <a:p>
            <a:pPr algn="l"/>
            <a:r>
              <a:rPr lang="en-IN" b="1" i="0" dirty="0">
                <a:solidFill>
                  <a:srgbClr val="202124"/>
                </a:solidFill>
                <a:effectLst/>
                <a:latin typeface="Google Sans"/>
              </a:rPr>
              <a:t>Cloud deployment models</a:t>
            </a:r>
          </a:p>
          <a:p>
            <a:pPr algn="l"/>
            <a:r>
              <a:rPr lang="en-IN" b="0" i="0" dirty="0">
                <a:solidFill>
                  <a:srgbClr val="5F6368"/>
                </a:solidFill>
                <a:effectLst/>
                <a:latin typeface="Google Sans Text"/>
              </a:rPr>
              <a:t>When adopting cloud architecture, there are three different types of cloud deployment models that help deliver cloud computing services: public cloud, private cloud, and hybrid cloud. </a:t>
            </a:r>
          </a:p>
          <a:p>
            <a:pPr algn="l"/>
            <a:r>
              <a:rPr lang="en-IN" b="1" i="0" dirty="0">
                <a:solidFill>
                  <a:srgbClr val="202124"/>
                </a:solidFill>
                <a:effectLst/>
                <a:latin typeface="Google Sans"/>
              </a:rPr>
              <a:t>Public cloud</a:t>
            </a:r>
          </a:p>
          <a:p>
            <a:pPr algn="l"/>
            <a:r>
              <a:rPr lang="en-IN" b="0" i="0" dirty="0">
                <a:solidFill>
                  <a:srgbClr val="5F6368"/>
                </a:solidFill>
                <a:effectLst/>
                <a:latin typeface="Google Sans Text"/>
              </a:rPr>
              <a:t>Public clouds deliver resources, such as compute, storage, network, develop-and-deploy environments, and applications over the internet. They are owned and run by third-party cloud service providers like Google Cloud.</a:t>
            </a:r>
          </a:p>
          <a:p>
            <a:pPr algn="l"/>
            <a:r>
              <a:rPr lang="en-IN" b="1" i="0" dirty="0">
                <a:solidFill>
                  <a:srgbClr val="202124"/>
                </a:solidFill>
                <a:effectLst/>
                <a:latin typeface="Google Sans"/>
              </a:rPr>
              <a:t>Private cloud</a:t>
            </a:r>
          </a:p>
          <a:p>
            <a:pPr algn="l"/>
            <a:r>
              <a:rPr lang="en-IN" b="0" i="0" dirty="0">
                <a:solidFill>
                  <a:srgbClr val="5F6368"/>
                </a:solidFill>
                <a:effectLst/>
                <a:latin typeface="Google Sans Text"/>
              </a:rPr>
              <a:t>Private clouds are built, run, and used by a single organization, typically located on-premises. They provide greater control, customization, and data security but come with similar costs and resource limitations associated with traditional IT environments.</a:t>
            </a:r>
          </a:p>
          <a:p>
            <a:pPr algn="l"/>
            <a:r>
              <a:rPr lang="en-IN" b="1" i="0" dirty="0">
                <a:solidFill>
                  <a:srgbClr val="202124"/>
                </a:solidFill>
                <a:effectLst/>
                <a:latin typeface="Google Sans"/>
              </a:rPr>
              <a:t>Hybrid cloud</a:t>
            </a:r>
          </a:p>
          <a:p>
            <a:pPr algn="l"/>
            <a:r>
              <a:rPr lang="en-IN" b="0" i="0" dirty="0">
                <a:solidFill>
                  <a:srgbClr val="5F6368"/>
                </a:solidFill>
                <a:effectLst/>
                <a:latin typeface="Google Sans Text"/>
              </a:rPr>
              <a:t>Environments that mix at least one private computing environment (traditional IT infrastructure or private cloud, including edge) with one or more public clouds are called hybrid clouds. They allow you to leverage the resources and services from different computing environments and choose which is the most optimal for the workloads. </a:t>
            </a:r>
          </a:p>
          <a:p>
            <a:pPr algn="l"/>
            <a:r>
              <a:rPr lang="en-IN" b="0" i="0" dirty="0">
                <a:solidFill>
                  <a:srgbClr val="5F6368"/>
                </a:solidFill>
                <a:effectLst/>
                <a:latin typeface="Google Sans Text"/>
              </a:rPr>
              <a:t>When talking about types of cloud deployment, you may also hear the term </a:t>
            </a:r>
            <a:r>
              <a:rPr lang="en-IN" b="0" i="0" dirty="0" err="1">
                <a:solidFill>
                  <a:srgbClr val="5F6368"/>
                </a:solidFill>
                <a:effectLst/>
                <a:latin typeface="Google Sans Text"/>
              </a:rPr>
              <a:t>multicloud</a:t>
            </a:r>
            <a:r>
              <a:rPr lang="en-IN" b="0" i="0" dirty="0">
                <a:solidFill>
                  <a:srgbClr val="5F6368"/>
                </a:solidFill>
                <a:effectLst/>
                <a:latin typeface="Google Sans Text"/>
              </a:rPr>
              <a:t> environment. In fact, industry research shows that </a:t>
            </a:r>
            <a:r>
              <a:rPr lang="en-IN" b="0" i="0" u="sng" dirty="0">
                <a:solidFill>
                  <a:srgbClr val="1A73E8"/>
                </a:solidFill>
                <a:effectLst/>
                <a:latin typeface="Google Sans Text"/>
                <a:hlinkClick r:id="rId2"/>
              </a:rPr>
              <a:t>nearly 90%</a:t>
            </a:r>
            <a:r>
              <a:rPr lang="en-IN" b="0" i="0" dirty="0">
                <a:solidFill>
                  <a:srgbClr val="5F6368"/>
                </a:solidFill>
                <a:effectLst/>
                <a:latin typeface="Google Sans Text"/>
              </a:rPr>
              <a:t> of companies are now considered </a:t>
            </a:r>
            <a:r>
              <a:rPr lang="en-IN" b="0" i="0" dirty="0" err="1">
                <a:solidFill>
                  <a:srgbClr val="5F6368"/>
                </a:solidFill>
                <a:effectLst/>
                <a:latin typeface="Google Sans Text"/>
              </a:rPr>
              <a:t>multicloud</a:t>
            </a:r>
            <a:r>
              <a:rPr lang="en-IN" b="0" i="0" dirty="0">
                <a:solidFill>
                  <a:srgbClr val="5F6368"/>
                </a:solidFill>
                <a:effectLst/>
                <a:latin typeface="Google Sans Text"/>
              </a:rPr>
              <a:t>, meaning they combine cloud services from at least two different cloud service providers, whether public or private. Adopting a </a:t>
            </a:r>
            <a:r>
              <a:rPr lang="en-IN" b="0" i="0" dirty="0" err="1">
                <a:solidFill>
                  <a:srgbClr val="5F6368"/>
                </a:solidFill>
                <a:effectLst/>
                <a:latin typeface="Google Sans Text"/>
              </a:rPr>
              <a:t>multicloud</a:t>
            </a:r>
            <a:r>
              <a:rPr lang="en-IN" b="0" i="0" dirty="0">
                <a:solidFill>
                  <a:srgbClr val="5F6368"/>
                </a:solidFill>
                <a:effectLst/>
                <a:latin typeface="Google Sans Text"/>
              </a:rPr>
              <a:t> approach gives you greater flexibility to choose the solutions that best suit your specific business needs and also reduces the risk of vendor lock-in. </a:t>
            </a:r>
          </a:p>
          <a:p>
            <a:pPr algn="l"/>
            <a:r>
              <a:rPr lang="en-IN" b="0" i="0" dirty="0">
                <a:solidFill>
                  <a:srgbClr val="5F6368"/>
                </a:solidFill>
                <a:effectLst/>
                <a:latin typeface="Google Sans Text"/>
              </a:rPr>
              <a:t>While </a:t>
            </a:r>
            <a:r>
              <a:rPr lang="en-IN" b="0" i="0" dirty="0" err="1">
                <a:solidFill>
                  <a:srgbClr val="5F6368"/>
                </a:solidFill>
                <a:effectLst/>
                <a:latin typeface="Google Sans Text"/>
              </a:rPr>
              <a:t>multicloud</a:t>
            </a:r>
            <a:r>
              <a:rPr lang="en-IN" b="0" i="0" dirty="0">
                <a:solidFill>
                  <a:srgbClr val="5F6368"/>
                </a:solidFill>
                <a:effectLst/>
                <a:latin typeface="Google Sans Text"/>
              </a:rPr>
              <a:t> and hybrid cloud are sometimes used interchangeably, a hybrid cloud approach can be considered </a:t>
            </a:r>
            <a:r>
              <a:rPr lang="en-IN" b="0" i="0" dirty="0" err="1">
                <a:solidFill>
                  <a:srgbClr val="5F6368"/>
                </a:solidFill>
                <a:effectLst/>
                <a:latin typeface="Google Sans Text"/>
              </a:rPr>
              <a:t>multicloud</a:t>
            </a:r>
            <a:r>
              <a:rPr lang="en-IN" b="0" i="0" dirty="0">
                <a:solidFill>
                  <a:srgbClr val="5F6368"/>
                </a:solidFill>
                <a:effectLst/>
                <a:latin typeface="Google Sans Text"/>
              </a:rPr>
              <a:t>, but only if it makes use of services from multiple public cloud providers.</a:t>
            </a:r>
          </a:p>
        </p:txBody>
      </p:sp>
      <p:sp>
        <p:nvSpPr>
          <p:cNvPr id="5" name="TextBox 4">
            <a:extLst>
              <a:ext uri="{FF2B5EF4-FFF2-40B4-BE49-F238E27FC236}">
                <a16:creationId xmlns:a16="http://schemas.microsoft.com/office/drawing/2014/main" id="{2AD8D9F8-E229-F50F-810A-197BEA1F2964}"/>
              </a:ext>
            </a:extLst>
          </p:cNvPr>
          <p:cNvSpPr txBox="1"/>
          <p:nvPr/>
        </p:nvSpPr>
        <p:spPr>
          <a:xfrm>
            <a:off x="356616" y="213088"/>
            <a:ext cx="6098720" cy="369332"/>
          </a:xfrm>
          <a:prstGeom prst="rect">
            <a:avLst/>
          </a:prstGeom>
          <a:noFill/>
        </p:spPr>
        <p:txBody>
          <a:bodyPr wrap="square">
            <a:spAutoFit/>
          </a:bodyPr>
          <a:lstStyle/>
          <a:p>
            <a:r>
              <a:rPr lang="en-IN" b="0" i="0" dirty="0">
                <a:solidFill>
                  <a:srgbClr val="2D2F31"/>
                </a:solidFill>
                <a:effectLst/>
                <a:latin typeface="Udemy Sans"/>
              </a:rPr>
              <a:t>11. Cloud Models and Their Use Cases</a:t>
            </a:r>
            <a:endParaRPr lang="en-IN" dirty="0"/>
          </a:p>
        </p:txBody>
      </p:sp>
    </p:spTree>
    <p:extLst>
      <p:ext uri="{BB962C8B-B14F-4D97-AF65-F5344CB8AC3E}">
        <p14:creationId xmlns:p14="http://schemas.microsoft.com/office/powerpoint/2010/main" val="178583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9EA79E-4694-EDBE-1D7B-B203BDDD599E}"/>
              </a:ext>
            </a:extLst>
          </p:cNvPr>
          <p:cNvSpPr txBox="1"/>
          <p:nvPr/>
        </p:nvSpPr>
        <p:spPr>
          <a:xfrm>
            <a:off x="640080" y="393192"/>
            <a:ext cx="12226834" cy="3693319"/>
          </a:xfrm>
          <a:prstGeom prst="rect">
            <a:avLst/>
          </a:prstGeom>
          <a:noFill/>
        </p:spPr>
        <p:txBody>
          <a:bodyPr wrap="square" rtlCol="0">
            <a:spAutoFit/>
          </a:bodyPr>
          <a:lstStyle/>
          <a:p>
            <a:r>
              <a:rPr lang="en-IN" dirty="0"/>
              <a:t>Public cloud:</a:t>
            </a:r>
          </a:p>
          <a:p>
            <a:pPr marL="285750" indent="-285750">
              <a:buFontTx/>
              <a:buChar char="-"/>
            </a:pPr>
            <a:r>
              <a:rPr lang="en-IN" dirty="0"/>
              <a:t>No capital expenditures.</a:t>
            </a:r>
          </a:p>
          <a:p>
            <a:pPr marL="285750" indent="-285750">
              <a:buFontTx/>
              <a:buChar char="-"/>
            </a:pPr>
            <a:r>
              <a:rPr lang="en-IN" dirty="0"/>
              <a:t>Applications can be quickly provisioned and deprovisioned</a:t>
            </a:r>
          </a:p>
          <a:p>
            <a:pPr marL="285750" indent="-285750">
              <a:buFontTx/>
              <a:buChar char="-"/>
            </a:pPr>
            <a:r>
              <a:rPr lang="en-IN" dirty="0"/>
              <a:t>Pay for what you use.</a:t>
            </a:r>
          </a:p>
          <a:p>
            <a:pPr marL="285750" indent="-285750">
              <a:buFontTx/>
              <a:buChar char="-"/>
            </a:pPr>
            <a:endParaRPr lang="en-IN" dirty="0"/>
          </a:p>
          <a:p>
            <a:r>
              <a:rPr lang="en-IN" dirty="0"/>
              <a:t>Private cloud:</a:t>
            </a:r>
          </a:p>
          <a:p>
            <a:pPr marL="285750" indent="-285750">
              <a:buFontTx/>
              <a:buChar char="-"/>
            </a:pPr>
            <a:r>
              <a:rPr lang="en-IN" dirty="0"/>
              <a:t>Hardware mush be purchased</a:t>
            </a:r>
          </a:p>
          <a:p>
            <a:pPr marL="285750" indent="-285750">
              <a:buFontTx/>
              <a:buChar char="-"/>
            </a:pPr>
            <a:r>
              <a:rPr lang="en-IN" dirty="0"/>
              <a:t>Organisations has compete control</a:t>
            </a:r>
          </a:p>
          <a:p>
            <a:pPr marL="285750" indent="-285750">
              <a:buFontTx/>
              <a:buChar char="-"/>
            </a:pPr>
            <a:r>
              <a:rPr lang="en-IN" dirty="0"/>
              <a:t>Organization is responsible for hardware.</a:t>
            </a:r>
          </a:p>
          <a:p>
            <a:r>
              <a:rPr lang="en-IN" dirty="0"/>
              <a:t>Hybrid cloud:</a:t>
            </a:r>
          </a:p>
          <a:p>
            <a:pPr marL="285750" indent="-285750">
              <a:buFontTx/>
              <a:buChar char="-"/>
            </a:pPr>
            <a:r>
              <a:rPr lang="en-IN" dirty="0"/>
              <a:t>Provide the most flexibility</a:t>
            </a:r>
          </a:p>
          <a:p>
            <a:pPr marL="285750" indent="-285750">
              <a:buFontTx/>
              <a:buChar char="-"/>
            </a:pPr>
            <a:r>
              <a:rPr lang="en-IN" dirty="0"/>
              <a:t>Organizations determine where to run their applications</a:t>
            </a:r>
          </a:p>
          <a:p>
            <a:pPr marL="285750" indent="-285750">
              <a:buFontTx/>
              <a:buChar char="-"/>
            </a:pPr>
            <a:r>
              <a:rPr lang="en-IN" dirty="0"/>
              <a:t>Organizations control security, compliance &amp; legal requirements.</a:t>
            </a:r>
          </a:p>
        </p:txBody>
      </p:sp>
    </p:spTree>
    <p:extLst>
      <p:ext uri="{BB962C8B-B14F-4D97-AF65-F5344CB8AC3E}">
        <p14:creationId xmlns:p14="http://schemas.microsoft.com/office/powerpoint/2010/main" val="3202477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29FB294-4757-1CE3-98F9-31045BCE21F0}"/>
              </a:ext>
            </a:extLst>
          </p:cNvPr>
          <p:cNvGraphicFramePr>
            <a:graphicFrameLocks noGrp="1"/>
          </p:cNvGraphicFramePr>
          <p:nvPr>
            <p:extLst>
              <p:ext uri="{D42A27DB-BD31-4B8C-83A1-F6EECF244321}">
                <p14:modId xmlns:p14="http://schemas.microsoft.com/office/powerpoint/2010/main" val="1933499711"/>
              </p:ext>
            </p:extLst>
          </p:nvPr>
        </p:nvGraphicFramePr>
        <p:xfrm>
          <a:off x="325121" y="1950720"/>
          <a:ext cx="11388345" cy="3840189"/>
        </p:xfrm>
        <a:graphic>
          <a:graphicData uri="http://schemas.openxmlformats.org/drawingml/2006/table">
            <a:tbl>
              <a:tblPr/>
              <a:tblGrid>
                <a:gridCol w="3796115">
                  <a:extLst>
                    <a:ext uri="{9D8B030D-6E8A-4147-A177-3AD203B41FA5}">
                      <a16:colId xmlns:a16="http://schemas.microsoft.com/office/drawing/2014/main" val="3494629485"/>
                    </a:ext>
                  </a:extLst>
                </a:gridCol>
                <a:gridCol w="3796115">
                  <a:extLst>
                    <a:ext uri="{9D8B030D-6E8A-4147-A177-3AD203B41FA5}">
                      <a16:colId xmlns:a16="http://schemas.microsoft.com/office/drawing/2014/main" val="3917726399"/>
                    </a:ext>
                  </a:extLst>
                </a:gridCol>
                <a:gridCol w="3796115">
                  <a:extLst>
                    <a:ext uri="{9D8B030D-6E8A-4147-A177-3AD203B41FA5}">
                      <a16:colId xmlns:a16="http://schemas.microsoft.com/office/drawing/2014/main" val="4238461200"/>
                    </a:ext>
                  </a:extLst>
                </a:gridCol>
              </a:tblGrid>
              <a:tr h="236448">
                <a:tc>
                  <a:txBody>
                    <a:bodyPr/>
                    <a:lstStyle/>
                    <a:p>
                      <a:pPr algn="l" fontAlgn="t"/>
                      <a:r>
                        <a:rPr lang="en-IN" sz="1200" b="1">
                          <a:effectLst/>
                        </a:rPr>
                        <a:t>Public cloud</a:t>
                      </a:r>
                      <a:endParaRPr lang="en-IN" sz="1200">
                        <a:effectLst/>
                      </a:endParaRPr>
                    </a:p>
                  </a:txBody>
                  <a:tcPr marL="61286" marR="61286" marT="30643" marB="30643">
                    <a:lnL>
                      <a:noFill/>
                    </a:lnL>
                    <a:lnR>
                      <a:noFill/>
                    </a:lnR>
                    <a:lnT>
                      <a:noFill/>
                    </a:lnT>
                    <a:lnB>
                      <a:noFill/>
                    </a:lnB>
                    <a:solidFill>
                      <a:srgbClr val="FFFFFF"/>
                    </a:solidFill>
                  </a:tcPr>
                </a:tc>
                <a:tc>
                  <a:txBody>
                    <a:bodyPr/>
                    <a:lstStyle/>
                    <a:p>
                      <a:pPr algn="l" fontAlgn="t"/>
                      <a:r>
                        <a:rPr lang="en-IN" sz="1200" b="1">
                          <a:effectLst/>
                        </a:rPr>
                        <a:t>Private cloud</a:t>
                      </a:r>
                      <a:endParaRPr lang="en-IN" sz="1200">
                        <a:effectLst/>
                      </a:endParaRPr>
                    </a:p>
                  </a:txBody>
                  <a:tcPr marL="61286" marR="61286" marT="30643" marB="30643">
                    <a:lnL>
                      <a:noFill/>
                    </a:lnL>
                    <a:lnR>
                      <a:noFill/>
                    </a:lnR>
                    <a:lnT>
                      <a:noFill/>
                    </a:lnT>
                    <a:lnB>
                      <a:noFill/>
                    </a:lnB>
                    <a:solidFill>
                      <a:srgbClr val="FFFFFF"/>
                    </a:solidFill>
                  </a:tcPr>
                </a:tc>
                <a:tc>
                  <a:txBody>
                    <a:bodyPr/>
                    <a:lstStyle/>
                    <a:p>
                      <a:pPr algn="l" fontAlgn="t"/>
                      <a:r>
                        <a:rPr lang="en-IN" sz="1200" b="1">
                          <a:effectLst/>
                        </a:rPr>
                        <a:t>Hybrid cloud</a:t>
                      </a:r>
                      <a:endParaRPr lang="en-IN" sz="1200">
                        <a:effectLst/>
                      </a:endParaRPr>
                    </a:p>
                  </a:txBody>
                  <a:tcPr marL="61286" marR="61286" marT="30643" marB="30643">
                    <a:lnL>
                      <a:noFill/>
                    </a:lnL>
                    <a:lnR>
                      <a:noFill/>
                    </a:lnR>
                    <a:lnT>
                      <a:noFill/>
                    </a:lnT>
                    <a:lnB>
                      <a:noFill/>
                    </a:lnB>
                    <a:solidFill>
                      <a:srgbClr val="FFFFFF"/>
                    </a:solidFill>
                  </a:tcPr>
                </a:tc>
                <a:extLst>
                  <a:ext uri="{0D108BD9-81ED-4DB2-BD59-A6C34878D82A}">
                    <a16:rowId xmlns:a16="http://schemas.microsoft.com/office/drawing/2014/main" val="3802191205"/>
                  </a:ext>
                </a:extLst>
              </a:tr>
              <a:tr h="858752">
                <a:tc>
                  <a:txBody>
                    <a:bodyPr/>
                    <a:lstStyle/>
                    <a:p>
                      <a:pPr algn="l" fontAlgn="t"/>
                      <a:r>
                        <a:rPr lang="en-IN" sz="1200">
                          <a:effectLst/>
                        </a:rPr>
                        <a:t>No capital expenditures to scale up</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Organizations have complete control over resources and security</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Provides the most flexibility</a:t>
                      </a:r>
                    </a:p>
                  </a:txBody>
                  <a:tcPr marL="61286" marR="61286" marT="30643" marB="30643">
                    <a:lnL>
                      <a:noFill/>
                    </a:lnL>
                    <a:lnR>
                      <a:noFill/>
                    </a:lnR>
                    <a:lnT>
                      <a:noFill/>
                    </a:lnT>
                    <a:lnB>
                      <a:noFill/>
                    </a:lnB>
                    <a:solidFill>
                      <a:srgbClr val="FFFFFF"/>
                    </a:solidFill>
                  </a:tcPr>
                </a:tc>
                <a:extLst>
                  <a:ext uri="{0D108BD9-81ED-4DB2-BD59-A6C34878D82A}">
                    <a16:rowId xmlns:a16="http://schemas.microsoft.com/office/drawing/2014/main" val="4250237448"/>
                  </a:ext>
                </a:extLst>
              </a:tr>
              <a:tr h="858752">
                <a:tc>
                  <a:txBody>
                    <a:bodyPr/>
                    <a:lstStyle/>
                    <a:p>
                      <a:pPr algn="l" fontAlgn="t"/>
                      <a:r>
                        <a:rPr lang="en-IN" sz="1200">
                          <a:effectLst/>
                        </a:rPr>
                        <a:t>Applications can be quickly provisioned and deprovisioned</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Data is not collocated with other organizations’ data</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Organizations determine where to run their applications</a:t>
                      </a:r>
                    </a:p>
                  </a:txBody>
                  <a:tcPr marL="61286" marR="61286" marT="30643" marB="30643">
                    <a:lnL>
                      <a:noFill/>
                    </a:lnL>
                    <a:lnR>
                      <a:noFill/>
                    </a:lnR>
                    <a:lnT>
                      <a:noFill/>
                    </a:lnT>
                    <a:lnB>
                      <a:noFill/>
                    </a:lnB>
                    <a:solidFill>
                      <a:srgbClr val="FFFFFF"/>
                    </a:solidFill>
                  </a:tcPr>
                </a:tc>
                <a:extLst>
                  <a:ext uri="{0D108BD9-81ED-4DB2-BD59-A6C34878D82A}">
                    <a16:rowId xmlns:a16="http://schemas.microsoft.com/office/drawing/2014/main" val="2063347265"/>
                  </a:ext>
                </a:extLst>
              </a:tr>
              <a:tr h="858752">
                <a:tc>
                  <a:txBody>
                    <a:bodyPr/>
                    <a:lstStyle/>
                    <a:p>
                      <a:pPr algn="l" fontAlgn="t"/>
                      <a:r>
                        <a:rPr lang="en-IN" sz="1200">
                          <a:effectLst/>
                        </a:rPr>
                        <a:t>Organizations pay only for what they use</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Hardware must be purchased for startup and maintenance</a:t>
                      </a:r>
                    </a:p>
                  </a:txBody>
                  <a:tcPr marL="61286" marR="61286" marT="30643" marB="30643">
                    <a:lnL>
                      <a:noFill/>
                    </a:lnL>
                    <a:lnR>
                      <a:noFill/>
                    </a:lnR>
                    <a:lnT>
                      <a:noFill/>
                    </a:lnT>
                    <a:lnB>
                      <a:noFill/>
                    </a:lnB>
                    <a:solidFill>
                      <a:srgbClr val="FFFFFF"/>
                    </a:solidFill>
                  </a:tcPr>
                </a:tc>
                <a:tc>
                  <a:txBody>
                    <a:bodyPr/>
                    <a:lstStyle/>
                    <a:p>
                      <a:pPr algn="l" fontAlgn="t"/>
                      <a:r>
                        <a:rPr lang="en-IN" sz="1200">
                          <a:effectLst/>
                        </a:rPr>
                        <a:t>Organizations control security, compliance, or legal requirements</a:t>
                      </a:r>
                    </a:p>
                  </a:txBody>
                  <a:tcPr marL="61286" marR="61286" marT="30643" marB="30643">
                    <a:lnL>
                      <a:noFill/>
                    </a:lnL>
                    <a:lnR>
                      <a:noFill/>
                    </a:lnR>
                    <a:lnT>
                      <a:noFill/>
                    </a:lnT>
                    <a:lnB>
                      <a:noFill/>
                    </a:lnB>
                    <a:solidFill>
                      <a:srgbClr val="FFFFFF"/>
                    </a:solidFill>
                  </a:tcPr>
                </a:tc>
                <a:extLst>
                  <a:ext uri="{0D108BD9-81ED-4DB2-BD59-A6C34878D82A}">
                    <a16:rowId xmlns:a16="http://schemas.microsoft.com/office/drawing/2014/main" val="602737977"/>
                  </a:ext>
                </a:extLst>
              </a:tr>
              <a:tr h="1019767">
                <a:tc>
                  <a:txBody>
                    <a:bodyPr/>
                    <a:lstStyle/>
                    <a:p>
                      <a:pPr algn="l" fontAlgn="t"/>
                      <a:r>
                        <a:rPr lang="en-IN" sz="1200">
                          <a:effectLst/>
                        </a:rPr>
                        <a:t>Organizations don’t have complete control over resources and security</a:t>
                      </a:r>
                    </a:p>
                  </a:txBody>
                  <a:tcPr marL="61286" marR="61286" marT="30643" marB="30643">
                    <a:lnL>
                      <a:noFill/>
                    </a:lnL>
                    <a:lnR>
                      <a:noFill/>
                    </a:lnR>
                    <a:lnT>
                      <a:noFill/>
                    </a:lnT>
                    <a:lnB>
                      <a:noFill/>
                    </a:lnB>
                    <a:solidFill>
                      <a:srgbClr val="FFFFFF"/>
                    </a:solidFill>
                  </a:tcPr>
                </a:tc>
                <a:tc>
                  <a:txBody>
                    <a:bodyPr/>
                    <a:lstStyle/>
                    <a:p>
                      <a:pPr algn="l" fontAlgn="t"/>
                      <a:r>
                        <a:rPr lang="en-IN" sz="1200" dirty="0">
                          <a:effectLst/>
                        </a:rPr>
                        <a:t>Organizations are responsible for hardware maintenance and updates</a:t>
                      </a:r>
                    </a:p>
                  </a:txBody>
                  <a:tcPr marL="61286" marR="61286" marT="30643" marB="30643">
                    <a:lnL>
                      <a:noFill/>
                    </a:lnL>
                    <a:lnR>
                      <a:noFill/>
                    </a:lnR>
                    <a:lnT>
                      <a:noFill/>
                    </a:lnT>
                    <a:lnB>
                      <a:noFill/>
                    </a:lnB>
                    <a:solidFill>
                      <a:srgbClr val="FFFFFF"/>
                    </a:solidFill>
                  </a:tcPr>
                </a:tc>
                <a:tc>
                  <a:txBody>
                    <a:bodyPr/>
                    <a:lstStyle/>
                    <a:p>
                      <a:endParaRPr lang="en-IN" sz="1200" dirty="0"/>
                    </a:p>
                  </a:txBody>
                  <a:tcPr marL="61286" marR="61286" marT="30643" marB="30643">
                    <a:lnL>
                      <a:noFill/>
                    </a:lnL>
                    <a:lnT>
                      <a:noFill/>
                    </a:lnT>
                  </a:tcPr>
                </a:tc>
                <a:extLst>
                  <a:ext uri="{0D108BD9-81ED-4DB2-BD59-A6C34878D82A}">
                    <a16:rowId xmlns:a16="http://schemas.microsoft.com/office/drawing/2014/main" val="837163136"/>
                  </a:ext>
                </a:extLst>
              </a:tr>
            </a:tbl>
          </a:graphicData>
        </a:graphic>
      </p:graphicFrame>
    </p:spTree>
    <p:extLst>
      <p:ext uri="{BB962C8B-B14F-4D97-AF65-F5344CB8AC3E}">
        <p14:creationId xmlns:p14="http://schemas.microsoft.com/office/powerpoint/2010/main" val="3631570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F93012-352F-B43A-ACCB-21F74875922D}"/>
              </a:ext>
            </a:extLst>
          </p:cNvPr>
          <p:cNvSpPr txBox="1"/>
          <p:nvPr/>
        </p:nvSpPr>
        <p:spPr>
          <a:xfrm>
            <a:off x="134030" y="190892"/>
            <a:ext cx="11923940" cy="7017306"/>
          </a:xfrm>
          <a:prstGeom prst="rect">
            <a:avLst/>
          </a:prstGeom>
          <a:noFill/>
        </p:spPr>
        <p:txBody>
          <a:bodyPr wrap="square">
            <a:spAutoFit/>
          </a:bodyPr>
          <a:lstStyle/>
          <a:p>
            <a:r>
              <a:rPr lang="en-IN" b="0" i="0" dirty="0">
                <a:solidFill>
                  <a:srgbClr val="2D2F31"/>
                </a:solidFill>
                <a:effectLst/>
                <a:latin typeface="Udemy Sans"/>
              </a:rPr>
              <a:t>12. The Benefits of Cloud Computing</a:t>
            </a:r>
          </a:p>
          <a:p>
            <a:r>
              <a:rPr lang="en-IN" b="1" i="0" dirty="0">
                <a:solidFill>
                  <a:srgbClr val="161616"/>
                </a:solidFill>
                <a:effectLst/>
                <a:latin typeface="Segoe UI" panose="020B0502040204020203" pitchFamily="34" charset="0"/>
              </a:rPr>
              <a:t>High availability</a:t>
            </a:r>
          </a:p>
          <a:p>
            <a:pPr algn="l"/>
            <a:r>
              <a:rPr lang="en-IN" b="0" i="0" dirty="0">
                <a:solidFill>
                  <a:srgbClr val="161616"/>
                </a:solidFill>
                <a:effectLst/>
                <a:latin typeface="Segoe UI" panose="020B0502040204020203" pitchFamily="34" charset="0"/>
              </a:rPr>
              <a:t>When you’re deploying an application, a service, or any IT resources, it’s important the resources are available when needed. High availability focuses on ensuring maximum availability, regardless of disruptions or events that may occur.</a:t>
            </a:r>
          </a:p>
          <a:p>
            <a:pPr algn="l"/>
            <a:r>
              <a:rPr lang="en-IN" b="0" i="0" dirty="0">
                <a:solidFill>
                  <a:srgbClr val="161616"/>
                </a:solidFill>
                <a:effectLst/>
                <a:latin typeface="Segoe UI" panose="020B0502040204020203" pitchFamily="34" charset="0"/>
              </a:rPr>
              <a:t>When you’re architecting your solution, you’ll need to account for service availability guarantees. Azure is a highly available cloud environment with uptime guarantees depending on the service. These guarantees are part of the service-level agreements (SLAs).</a:t>
            </a:r>
          </a:p>
          <a:p>
            <a:pPr algn="l"/>
            <a:r>
              <a:rPr lang="en-IN" b="1" i="0" dirty="0">
                <a:solidFill>
                  <a:srgbClr val="161616"/>
                </a:solidFill>
                <a:effectLst/>
                <a:latin typeface="Segoe UI" panose="020B0502040204020203" pitchFamily="34" charset="0"/>
              </a:rPr>
              <a:t>Scalability</a:t>
            </a:r>
          </a:p>
          <a:p>
            <a:pPr algn="l"/>
            <a:r>
              <a:rPr lang="en-IN" b="0" i="0" dirty="0">
                <a:solidFill>
                  <a:srgbClr val="161616"/>
                </a:solidFill>
                <a:effectLst/>
                <a:latin typeface="Segoe UI" panose="020B0502040204020203" pitchFamily="34" charset="0"/>
              </a:rPr>
              <a:t>Another major benefit of cloud computing is the scalability of cloud resources. Scalability refers to the ability to adjust resources to meet demand. If you suddenly experience peak traffic and your systems are overwhelmed, the ability to scale means you can add more resources to better handle the increased demand.</a:t>
            </a:r>
          </a:p>
          <a:p>
            <a:pPr algn="l"/>
            <a:r>
              <a:rPr lang="en-IN" b="0" i="0" dirty="0">
                <a:solidFill>
                  <a:srgbClr val="161616"/>
                </a:solidFill>
                <a:effectLst/>
                <a:latin typeface="Segoe UI" panose="020B0502040204020203" pitchFamily="34" charset="0"/>
              </a:rPr>
              <a:t>Scaling generally comes in two varieties: vertical and horizontal. Vertical scaling is focused on increasing or decreasing the capabilities of resources. Horizontal scaling is adding or subtracting the number of resources.</a:t>
            </a:r>
          </a:p>
          <a:p>
            <a:pPr algn="l"/>
            <a:r>
              <a:rPr lang="en-IN" b="1" i="0" dirty="0">
                <a:solidFill>
                  <a:srgbClr val="161616"/>
                </a:solidFill>
                <a:effectLst/>
                <a:latin typeface="Segoe UI" panose="020B0502040204020203" pitchFamily="34" charset="0"/>
              </a:rPr>
              <a:t>Vertical scaling</a:t>
            </a:r>
          </a:p>
          <a:p>
            <a:pPr algn="l"/>
            <a:r>
              <a:rPr lang="en-IN" b="0" i="0" dirty="0">
                <a:solidFill>
                  <a:srgbClr val="161616"/>
                </a:solidFill>
                <a:effectLst/>
                <a:latin typeface="Segoe UI" panose="020B0502040204020203" pitchFamily="34" charset="0"/>
              </a:rPr>
              <a:t>With vertical scaling, if you were developing an app and you needed more processing power, you could vertically scale up to add more CPUs or RAM to the virtual machine. Conversely, if you realized you had over-specified the needs, you could vertically scale down by lowering the CPU or RAM specifications.</a:t>
            </a:r>
          </a:p>
          <a:p>
            <a:pPr algn="l"/>
            <a:r>
              <a:rPr lang="en-IN" b="1" i="0" dirty="0">
                <a:solidFill>
                  <a:srgbClr val="161616"/>
                </a:solidFill>
                <a:effectLst/>
                <a:latin typeface="Segoe UI" panose="020B0502040204020203" pitchFamily="34" charset="0"/>
              </a:rPr>
              <a:t>Horizontal scaling</a:t>
            </a:r>
          </a:p>
          <a:p>
            <a:pPr algn="l"/>
            <a:r>
              <a:rPr lang="en-IN" b="0" i="0" dirty="0">
                <a:solidFill>
                  <a:srgbClr val="161616"/>
                </a:solidFill>
                <a:effectLst/>
                <a:latin typeface="Segoe UI" panose="020B0502040204020203" pitchFamily="34" charset="0"/>
              </a:rPr>
              <a:t>With horizontal scaling, if you suddenly experienced a steep jump in demand, your deployed resources could be scaled out (either automatically or manually). For example, you could add additional virtual machines or containers, scaling out. In the same manner, if there was a significant drop in demand, deployed resources could be scaled in (either automatically or manually), scaling in.</a:t>
            </a:r>
          </a:p>
          <a:p>
            <a:pPr algn="l"/>
            <a:endParaRPr lang="en-IN" b="0" i="0" dirty="0">
              <a:solidFill>
                <a:srgbClr val="161616"/>
              </a:solidFill>
              <a:effectLst/>
              <a:latin typeface="Segoe UI" panose="020B0502040204020203" pitchFamily="34" charset="0"/>
            </a:endParaRPr>
          </a:p>
          <a:p>
            <a:endParaRPr lang="en-IN" dirty="0"/>
          </a:p>
        </p:txBody>
      </p:sp>
    </p:spTree>
    <p:extLst>
      <p:ext uri="{BB962C8B-B14F-4D97-AF65-F5344CB8AC3E}">
        <p14:creationId xmlns:p14="http://schemas.microsoft.com/office/powerpoint/2010/main" val="1975161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76E881-4D4E-6272-8CBE-59CACB032057}"/>
              </a:ext>
            </a:extLst>
          </p:cNvPr>
          <p:cNvSpPr txBox="1"/>
          <p:nvPr/>
        </p:nvSpPr>
        <p:spPr>
          <a:xfrm>
            <a:off x="358902" y="254246"/>
            <a:ext cx="6094476" cy="369332"/>
          </a:xfrm>
          <a:prstGeom prst="rect">
            <a:avLst/>
          </a:prstGeom>
          <a:noFill/>
        </p:spPr>
        <p:txBody>
          <a:bodyPr wrap="square">
            <a:spAutoFit/>
          </a:bodyPr>
          <a:lstStyle/>
          <a:p>
            <a:r>
              <a:rPr lang="en-IN" b="1" i="0" dirty="0">
                <a:solidFill>
                  <a:srgbClr val="2D2F31"/>
                </a:solidFill>
                <a:effectLst/>
                <a:latin typeface="Udemy Sans"/>
              </a:rPr>
              <a:t>17. Describe Infrastructure-as-a-Service (IaaS)</a:t>
            </a:r>
            <a:endParaRPr lang="en-IN" b="1" dirty="0"/>
          </a:p>
        </p:txBody>
      </p:sp>
      <p:sp>
        <p:nvSpPr>
          <p:cNvPr id="5" name="TextBox 4">
            <a:extLst>
              <a:ext uri="{FF2B5EF4-FFF2-40B4-BE49-F238E27FC236}">
                <a16:creationId xmlns:a16="http://schemas.microsoft.com/office/drawing/2014/main" id="{67D5A339-1AE0-1E34-6991-BAC562E44DD4}"/>
              </a:ext>
            </a:extLst>
          </p:cNvPr>
          <p:cNvSpPr txBox="1"/>
          <p:nvPr/>
        </p:nvSpPr>
        <p:spPr>
          <a:xfrm>
            <a:off x="441198" y="797296"/>
            <a:ext cx="11555730" cy="1754326"/>
          </a:xfrm>
          <a:prstGeom prst="rect">
            <a:avLst/>
          </a:prstGeom>
          <a:noFill/>
        </p:spPr>
        <p:txBody>
          <a:bodyPr wrap="square">
            <a:spAutoFit/>
          </a:bodyPr>
          <a:lstStyle/>
          <a:p>
            <a:r>
              <a:rPr lang="en-IN" b="0" i="0" dirty="0">
                <a:solidFill>
                  <a:srgbClr val="161616"/>
                </a:solidFill>
                <a:effectLst/>
                <a:latin typeface="Segoe UI" panose="020B0502040204020203" pitchFamily="34" charset="0"/>
              </a:rPr>
              <a:t>Infrastructure as a service (IaaS) is the most flexible category of cloud services, as it provides you the maximum amount of control for your cloud resources. In an IaaS model, the cloud provider is responsible for maintaining the hardware, network connectivity (to the internet), and physical security. You’re responsible for everything else: operating system installation, configuration, and maintenance; network configuration; database and storage configuration; and so on. With IaaS, you’re essentially renting the hardware in a cloud </a:t>
            </a:r>
            <a:r>
              <a:rPr lang="en-IN" b="0" i="0" dirty="0" err="1">
                <a:solidFill>
                  <a:srgbClr val="161616"/>
                </a:solidFill>
                <a:effectLst/>
                <a:latin typeface="Segoe UI" panose="020B0502040204020203" pitchFamily="34" charset="0"/>
              </a:rPr>
              <a:t>datacenter</a:t>
            </a:r>
            <a:r>
              <a:rPr lang="en-IN" b="0" i="0" dirty="0">
                <a:solidFill>
                  <a:srgbClr val="161616"/>
                </a:solidFill>
                <a:effectLst/>
                <a:latin typeface="Segoe UI" panose="020B0502040204020203" pitchFamily="34" charset="0"/>
              </a:rPr>
              <a:t>, but what you do with that hardware is up to you.</a:t>
            </a:r>
            <a:endParaRPr lang="en-IN" dirty="0"/>
          </a:p>
        </p:txBody>
      </p:sp>
      <p:sp>
        <p:nvSpPr>
          <p:cNvPr id="7" name="TextBox 6">
            <a:extLst>
              <a:ext uri="{FF2B5EF4-FFF2-40B4-BE49-F238E27FC236}">
                <a16:creationId xmlns:a16="http://schemas.microsoft.com/office/drawing/2014/main" id="{8545FAF0-C9FD-2B53-EFDD-8CC6F1BA4F27}"/>
              </a:ext>
            </a:extLst>
          </p:cNvPr>
          <p:cNvSpPr txBox="1"/>
          <p:nvPr/>
        </p:nvSpPr>
        <p:spPr>
          <a:xfrm>
            <a:off x="358902" y="2725339"/>
            <a:ext cx="11381341" cy="2031325"/>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Scenarios</a:t>
            </a:r>
          </a:p>
          <a:p>
            <a:pPr algn="l"/>
            <a:r>
              <a:rPr lang="en-IN" b="0" i="0" dirty="0">
                <a:solidFill>
                  <a:srgbClr val="161616"/>
                </a:solidFill>
                <a:effectLst/>
                <a:latin typeface="Segoe UI" panose="020B0502040204020203" pitchFamily="34" charset="0"/>
              </a:rPr>
              <a:t>Some common scenarios where IaaS might make sense include:</a:t>
            </a:r>
          </a:p>
          <a:p>
            <a:pPr algn="l">
              <a:buFont typeface="Arial" panose="020B0604020202020204" pitchFamily="34" charset="0"/>
              <a:buChar char="•"/>
            </a:pPr>
            <a:r>
              <a:rPr lang="en-IN" b="0" i="0" dirty="0">
                <a:solidFill>
                  <a:srgbClr val="161616"/>
                </a:solidFill>
                <a:effectLst/>
                <a:latin typeface="Segoe UI" panose="020B0502040204020203" pitchFamily="34" charset="0"/>
              </a:rPr>
              <a:t>Lift-and-shift migration: You’re setting up cloud resources similar to your on-prem </a:t>
            </a:r>
            <a:r>
              <a:rPr lang="en-IN" b="0" i="0" dirty="0" err="1">
                <a:solidFill>
                  <a:srgbClr val="161616"/>
                </a:solidFill>
                <a:effectLst/>
                <a:latin typeface="Segoe UI" panose="020B0502040204020203" pitchFamily="34" charset="0"/>
              </a:rPr>
              <a:t>datacenter</a:t>
            </a:r>
            <a:r>
              <a:rPr lang="en-IN" b="0" i="0" dirty="0">
                <a:solidFill>
                  <a:srgbClr val="161616"/>
                </a:solidFill>
                <a:effectLst/>
                <a:latin typeface="Segoe UI" panose="020B0502040204020203" pitchFamily="34" charset="0"/>
              </a:rPr>
              <a:t>, and then simply moving the things running on-prem to running on the IaaS infrastructure.</a:t>
            </a:r>
          </a:p>
          <a:p>
            <a:pPr algn="l">
              <a:buFont typeface="Arial" panose="020B0604020202020204" pitchFamily="34" charset="0"/>
              <a:buChar char="•"/>
            </a:pPr>
            <a:r>
              <a:rPr lang="en-IN" b="0" i="0" dirty="0">
                <a:solidFill>
                  <a:srgbClr val="161616"/>
                </a:solidFill>
                <a:effectLst/>
                <a:latin typeface="Segoe UI" panose="020B0502040204020203" pitchFamily="34" charset="0"/>
              </a:rPr>
              <a:t>Testing and development: You have established configurations for development and test environments that you need to rapidly replicate. You can start up or shut down the different environments rapidly with an IaaS structure, while maintaining complete control.</a:t>
            </a:r>
          </a:p>
        </p:txBody>
      </p:sp>
    </p:spTree>
    <p:extLst>
      <p:ext uri="{BB962C8B-B14F-4D97-AF65-F5344CB8AC3E}">
        <p14:creationId xmlns:p14="http://schemas.microsoft.com/office/powerpoint/2010/main" val="266921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38435A-F378-A3A2-1A67-738B3462A8D3}"/>
              </a:ext>
            </a:extLst>
          </p:cNvPr>
          <p:cNvSpPr txBox="1"/>
          <p:nvPr/>
        </p:nvSpPr>
        <p:spPr>
          <a:xfrm>
            <a:off x="400046" y="739251"/>
            <a:ext cx="11821887" cy="2334986"/>
          </a:xfrm>
          <a:prstGeom prst="rect">
            <a:avLst/>
          </a:prstGeom>
          <a:noFill/>
        </p:spPr>
        <p:txBody>
          <a:bodyPr wrap="square">
            <a:spAutoFit/>
          </a:bodyPr>
          <a:lstStyle/>
          <a:p>
            <a:pPr algn="l"/>
            <a:r>
              <a:rPr lang="en-IN" b="0" i="0" dirty="0">
                <a:solidFill>
                  <a:srgbClr val="161616"/>
                </a:solidFill>
                <a:effectLst/>
                <a:latin typeface="Segoe UI" panose="020B0502040204020203" pitchFamily="34" charset="0"/>
              </a:rPr>
              <a:t>Platform as a service (PaaS) is a middle ground between renting space in a </a:t>
            </a:r>
            <a:r>
              <a:rPr lang="en-IN" b="0" i="0" dirty="0" err="1">
                <a:solidFill>
                  <a:srgbClr val="161616"/>
                </a:solidFill>
                <a:effectLst/>
                <a:latin typeface="Segoe UI" panose="020B0502040204020203" pitchFamily="34" charset="0"/>
              </a:rPr>
              <a:t>datacenter</a:t>
            </a:r>
            <a:r>
              <a:rPr lang="en-IN" b="0" i="0" dirty="0">
                <a:solidFill>
                  <a:srgbClr val="161616"/>
                </a:solidFill>
                <a:effectLst/>
                <a:latin typeface="Segoe UI" panose="020B0502040204020203" pitchFamily="34" charset="0"/>
              </a:rPr>
              <a:t> (infrastructure as a service) and paying for a complete and deployed solution (software as a service). In a PaaS environment, the cloud provider maintains the physical infrastructure, physical security, and connection to the internet. They also maintain the operating systems, middleware, development tools, and business intelligence services that make up a cloud solution. In a PaaS scenario, you don't have to worry about the licensing or patching for operating systems and databases.</a:t>
            </a:r>
          </a:p>
          <a:p>
            <a:pPr algn="l"/>
            <a:r>
              <a:rPr lang="en-IN" b="0" i="0" dirty="0">
                <a:solidFill>
                  <a:srgbClr val="161616"/>
                </a:solidFill>
                <a:effectLst/>
                <a:latin typeface="Segoe UI" panose="020B0502040204020203" pitchFamily="34" charset="0"/>
              </a:rPr>
              <a:t>PaaS is well suited to provide </a:t>
            </a:r>
            <a:r>
              <a:rPr lang="en-IN" b="1" i="0" dirty="0">
                <a:solidFill>
                  <a:srgbClr val="161616"/>
                </a:solidFill>
                <a:effectLst/>
                <a:latin typeface="Segoe UI" panose="020B0502040204020203" pitchFamily="34" charset="0"/>
              </a:rPr>
              <a:t>a complete development environment without the headache of maintaining all the development infrastructure.</a:t>
            </a:r>
          </a:p>
        </p:txBody>
      </p:sp>
      <p:sp>
        <p:nvSpPr>
          <p:cNvPr id="5" name="TextBox 4">
            <a:extLst>
              <a:ext uri="{FF2B5EF4-FFF2-40B4-BE49-F238E27FC236}">
                <a16:creationId xmlns:a16="http://schemas.microsoft.com/office/drawing/2014/main" id="{5927C8C9-882B-88FB-24A4-856DEA1319F3}"/>
              </a:ext>
            </a:extLst>
          </p:cNvPr>
          <p:cNvSpPr txBox="1"/>
          <p:nvPr/>
        </p:nvSpPr>
        <p:spPr>
          <a:xfrm>
            <a:off x="212270" y="288863"/>
            <a:ext cx="6098720" cy="369332"/>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Platform as a Service</a:t>
            </a:r>
          </a:p>
        </p:txBody>
      </p:sp>
      <p:sp>
        <p:nvSpPr>
          <p:cNvPr id="7" name="TextBox 6">
            <a:extLst>
              <a:ext uri="{FF2B5EF4-FFF2-40B4-BE49-F238E27FC236}">
                <a16:creationId xmlns:a16="http://schemas.microsoft.com/office/drawing/2014/main" id="{C2A01C20-3AE5-0406-6A53-2623D83A0513}"/>
              </a:ext>
            </a:extLst>
          </p:cNvPr>
          <p:cNvSpPr txBox="1"/>
          <p:nvPr/>
        </p:nvSpPr>
        <p:spPr>
          <a:xfrm>
            <a:off x="400046" y="3155294"/>
            <a:ext cx="11821887" cy="2585323"/>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Scenarios</a:t>
            </a:r>
          </a:p>
          <a:p>
            <a:pPr algn="l"/>
            <a:r>
              <a:rPr lang="en-IN" b="0" i="0" dirty="0">
                <a:solidFill>
                  <a:srgbClr val="161616"/>
                </a:solidFill>
                <a:effectLst/>
                <a:latin typeface="Segoe UI" panose="020B0502040204020203" pitchFamily="34" charset="0"/>
              </a:rPr>
              <a:t>Some common scenarios where PaaS might make sense include:</a:t>
            </a:r>
          </a:p>
          <a:p>
            <a:pPr algn="l">
              <a:buFont typeface="Arial" panose="020B0604020202020204" pitchFamily="34" charset="0"/>
              <a:buChar char="•"/>
            </a:pPr>
            <a:r>
              <a:rPr lang="en-IN" b="0" i="0" dirty="0">
                <a:solidFill>
                  <a:srgbClr val="161616"/>
                </a:solidFill>
                <a:effectLst/>
                <a:latin typeface="Segoe UI" panose="020B0502040204020203" pitchFamily="34" charset="0"/>
              </a:rPr>
              <a:t>Development framework: PaaS provides a framework that developers can build upon to develop or customize cloud-based applications. Similar to the way you create an Excel macro, PaaS lets developers create applications using built-in software components. Cloud features such as scalability, high-availability, and multi-tenant capability are included, reducing the amount of coding that developers must do.</a:t>
            </a:r>
          </a:p>
          <a:p>
            <a:pPr algn="l">
              <a:buFont typeface="Arial" panose="020B0604020202020204" pitchFamily="34" charset="0"/>
              <a:buChar char="•"/>
            </a:pPr>
            <a:r>
              <a:rPr lang="en-IN" b="0" i="0" dirty="0">
                <a:solidFill>
                  <a:srgbClr val="161616"/>
                </a:solidFill>
                <a:effectLst/>
                <a:latin typeface="Segoe UI" panose="020B0502040204020203" pitchFamily="34" charset="0"/>
              </a:rPr>
              <a:t>Analytics or business intelligence: Tools provided as a service with PaaS allow organizations to </a:t>
            </a:r>
            <a:r>
              <a:rPr lang="en-IN" b="0" i="0" dirty="0" err="1">
                <a:solidFill>
                  <a:srgbClr val="161616"/>
                </a:solidFill>
                <a:effectLst/>
                <a:latin typeface="Segoe UI" panose="020B0502040204020203" pitchFamily="34" charset="0"/>
              </a:rPr>
              <a:t>analyze</a:t>
            </a:r>
            <a:r>
              <a:rPr lang="en-IN" b="0" i="0" dirty="0">
                <a:solidFill>
                  <a:srgbClr val="161616"/>
                </a:solidFill>
                <a:effectLst/>
                <a:latin typeface="Segoe UI" panose="020B0502040204020203" pitchFamily="34" charset="0"/>
              </a:rPr>
              <a:t> and mine their data, finding insights and patterns and predicting outcomes to improve forecasting, product design decisions, investment returns, and other business decisions.</a:t>
            </a:r>
          </a:p>
        </p:txBody>
      </p:sp>
    </p:spTree>
    <p:extLst>
      <p:ext uri="{BB962C8B-B14F-4D97-AF65-F5344CB8AC3E}">
        <p14:creationId xmlns:p14="http://schemas.microsoft.com/office/powerpoint/2010/main" val="77509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03413-5B5D-9EA8-2D74-CE8C5EE63D0B}"/>
              </a:ext>
            </a:extLst>
          </p:cNvPr>
          <p:cNvSpPr txBox="1"/>
          <p:nvPr/>
        </p:nvSpPr>
        <p:spPr>
          <a:xfrm>
            <a:off x="355147" y="207220"/>
            <a:ext cx="6098720" cy="369332"/>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Software as a Service</a:t>
            </a:r>
          </a:p>
        </p:txBody>
      </p:sp>
      <p:sp>
        <p:nvSpPr>
          <p:cNvPr id="5" name="TextBox 4">
            <a:extLst>
              <a:ext uri="{FF2B5EF4-FFF2-40B4-BE49-F238E27FC236}">
                <a16:creationId xmlns:a16="http://schemas.microsoft.com/office/drawing/2014/main" id="{258BF124-4ADD-233D-D36B-710AE86A30F2}"/>
              </a:ext>
            </a:extLst>
          </p:cNvPr>
          <p:cNvSpPr txBox="1"/>
          <p:nvPr/>
        </p:nvSpPr>
        <p:spPr>
          <a:xfrm>
            <a:off x="355147" y="576552"/>
            <a:ext cx="11613696" cy="1477328"/>
          </a:xfrm>
          <a:prstGeom prst="rect">
            <a:avLst/>
          </a:prstGeom>
          <a:noFill/>
        </p:spPr>
        <p:txBody>
          <a:bodyPr wrap="square">
            <a:spAutoFit/>
          </a:bodyPr>
          <a:lstStyle/>
          <a:p>
            <a:pPr algn="l"/>
            <a:r>
              <a:rPr lang="en-IN" b="0" i="0" dirty="0">
                <a:solidFill>
                  <a:srgbClr val="161616"/>
                </a:solidFill>
                <a:effectLst/>
                <a:latin typeface="Segoe UI" panose="020B0502040204020203" pitchFamily="34" charset="0"/>
              </a:rPr>
              <a:t>Software as a service (SaaS) is the most complete cloud service model from a product perspective. With SaaS, you’re essentially renting or using a fully developed application. Email, financial software, messaging applications, and connectivity software are all common examples of a SaaS implementation.</a:t>
            </a:r>
          </a:p>
          <a:p>
            <a:pPr algn="l"/>
            <a:r>
              <a:rPr lang="en-IN" b="0" i="0" dirty="0">
                <a:solidFill>
                  <a:srgbClr val="161616"/>
                </a:solidFill>
                <a:effectLst/>
                <a:latin typeface="Segoe UI" panose="020B0502040204020203" pitchFamily="34" charset="0"/>
              </a:rPr>
              <a:t>While the SaaS model may be the least flexible, it’s also the easiest to get up and running. It requires the least amount of technical knowledge or expertise to fully employ.</a:t>
            </a:r>
          </a:p>
        </p:txBody>
      </p:sp>
      <p:sp>
        <p:nvSpPr>
          <p:cNvPr id="7" name="TextBox 6">
            <a:extLst>
              <a:ext uri="{FF2B5EF4-FFF2-40B4-BE49-F238E27FC236}">
                <a16:creationId xmlns:a16="http://schemas.microsoft.com/office/drawing/2014/main" id="{A16194E9-4068-9A53-909F-C55D482FD34E}"/>
              </a:ext>
            </a:extLst>
          </p:cNvPr>
          <p:cNvSpPr txBox="1"/>
          <p:nvPr/>
        </p:nvSpPr>
        <p:spPr>
          <a:xfrm>
            <a:off x="355147" y="2233136"/>
            <a:ext cx="6098720" cy="1477328"/>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Scenarios</a:t>
            </a:r>
          </a:p>
          <a:p>
            <a:pPr algn="l"/>
            <a:r>
              <a:rPr lang="en-IN" b="0" i="0" dirty="0">
                <a:solidFill>
                  <a:srgbClr val="161616"/>
                </a:solidFill>
                <a:effectLst/>
                <a:latin typeface="Segoe UI" panose="020B0502040204020203" pitchFamily="34" charset="0"/>
              </a:rPr>
              <a:t>Some common scenarios for SaaS are:</a:t>
            </a:r>
          </a:p>
          <a:p>
            <a:pPr algn="l">
              <a:buFont typeface="Arial" panose="020B0604020202020204" pitchFamily="34" charset="0"/>
              <a:buChar char="•"/>
            </a:pPr>
            <a:r>
              <a:rPr lang="en-IN" b="0" i="0" dirty="0">
                <a:solidFill>
                  <a:srgbClr val="161616"/>
                </a:solidFill>
                <a:effectLst/>
                <a:latin typeface="Segoe UI" panose="020B0502040204020203" pitchFamily="34" charset="0"/>
              </a:rPr>
              <a:t>Email and messaging.</a:t>
            </a:r>
          </a:p>
          <a:p>
            <a:pPr algn="l">
              <a:buFont typeface="Arial" panose="020B0604020202020204" pitchFamily="34" charset="0"/>
              <a:buChar char="•"/>
            </a:pPr>
            <a:r>
              <a:rPr lang="en-IN" b="0" i="0" dirty="0">
                <a:solidFill>
                  <a:srgbClr val="161616"/>
                </a:solidFill>
                <a:effectLst/>
                <a:latin typeface="Segoe UI" panose="020B0502040204020203" pitchFamily="34" charset="0"/>
              </a:rPr>
              <a:t>Business productivity applications.</a:t>
            </a:r>
          </a:p>
          <a:p>
            <a:pPr algn="l">
              <a:buFont typeface="Arial" panose="020B0604020202020204" pitchFamily="34" charset="0"/>
              <a:buChar char="•"/>
            </a:pPr>
            <a:r>
              <a:rPr lang="en-IN" b="0" i="0" dirty="0">
                <a:solidFill>
                  <a:srgbClr val="161616"/>
                </a:solidFill>
                <a:effectLst/>
                <a:latin typeface="Segoe UI" panose="020B0502040204020203" pitchFamily="34" charset="0"/>
              </a:rPr>
              <a:t>Finance and expense tracking.</a:t>
            </a:r>
          </a:p>
        </p:txBody>
      </p:sp>
      <p:sp>
        <p:nvSpPr>
          <p:cNvPr id="9" name="TextBox 8">
            <a:extLst>
              <a:ext uri="{FF2B5EF4-FFF2-40B4-BE49-F238E27FC236}">
                <a16:creationId xmlns:a16="http://schemas.microsoft.com/office/drawing/2014/main" id="{9BEAF095-B8B5-CD92-5AC0-5FEDD47862A3}"/>
              </a:ext>
            </a:extLst>
          </p:cNvPr>
          <p:cNvSpPr txBox="1"/>
          <p:nvPr/>
        </p:nvSpPr>
        <p:spPr>
          <a:xfrm>
            <a:off x="355146" y="3889721"/>
            <a:ext cx="11613695" cy="1754326"/>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Shared responsibility model</a:t>
            </a:r>
          </a:p>
          <a:p>
            <a:pPr algn="l"/>
            <a:r>
              <a:rPr lang="en-IN" b="0" i="0" dirty="0">
                <a:solidFill>
                  <a:srgbClr val="161616"/>
                </a:solidFill>
                <a:effectLst/>
                <a:latin typeface="Segoe UI" panose="020B0502040204020203" pitchFamily="34" charset="0"/>
              </a:rPr>
              <a:t>The shared responsibility model applies to all the cloud service types. SaaS is the model that places the most responsibility with the cloud provider and the least responsibility with the user. In a SaaS environment you’re responsible for the data that you put into the system, the devices that you allow to connect to the system, and the users that have access. Nearly everything else falls to the cloud provider. The cloud provider is responsible for physical security of the </a:t>
            </a:r>
            <a:r>
              <a:rPr lang="en-IN" b="0" i="0" dirty="0" err="1">
                <a:solidFill>
                  <a:srgbClr val="161616"/>
                </a:solidFill>
                <a:effectLst/>
                <a:latin typeface="Segoe UI" panose="020B0502040204020203" pitchFamily="34" charset="0"/>
              </a:rPr>
              <a:t>datacenters</a:t>
            </a:r>
            <a:r>
              <a:rPr lang="en-IN" b="0" i="0" dirty="0">
                <a:solidFill>
                  <a:srgbClr val="161616"/>
                </a:solidFill>
                <a:effectLst/>
                <a:latin typeface="Segoe UI" panose="020B0502040204020203" pitchFamily="34" charset="0"/>
              </a:rPr>
              <a:t>, power, network connectivity, and application development and patching.</a:t>
            </a:r>
          </a:p>
        </p:txBody>
      </p:sp>
    </p:spTree>
    <p:extLst>
      <p:ext uri="{BB962C8B-B14F-4D97-AF65-F5344CB8AC3E}">
        <p14:creationId xmlns:p14="http://schemas.microsoft.com/office/powerpoint/2010/main" val="2040973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3" name="Rectangle 41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5">
            <a:extLst>
              <a:ext uri="{FF2B5EF4-FFF2-40B4-BE49-F238E27FC236}">
                <a16:creationId xmlns:a16="http://schemas.microsoft.com/office/drawing/2014/main" id="{C7D5CE2C-3CEF-1C99-CF36-487928AEF51E}"/>
              </a:ext>
            </a:extLst>
          </p:cNvPr>
          <p:cNvSpPr>
            <a:spLocks noChangeArrowheads="1"/>
          </p:cNvSpPr>
          <p:nvPr/>
        </p:nvSpPr>
        <p:spPr bwMode="auto">
          <a:xfrm>
            <a:off x="630936" y="2807208"/>
            <a:ext cx="3429000" cy="341071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200" b="0" i="0" u="none" strike="noStrike" cap="none" normalizeH="0" baseline="0" dirty="0">
              <a:ln>
                <a:noFill/>
              </a:ln>
              <a:effectLst/>
              <a:latin typeface="+mn-lt"/>
            </a:endParaRPr>
          </a:p>
        </p:txBody>
      </p:sp>
    </p:spTree>
    <p:extLst>
      <p:ext uri="{BB962C8B-B14F-4D97-AF65-F5344CB8AC3E}">
        <p14:creationId xmlns:p14="http://schemas.microsoft.com/office/powerpoint/2010/main" val="1366751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FF996D-0532-2A7B-7A07-7AF6A2C8F7AC}"/>
              </a:ext>
            </a:extLst>
          </p:cNvPr>
          <p:cNvSpPr txBox="1"/>
          <p:nvPr/>
        </p:nvSpPr>
        <p:spPr>
          <a:xfrm>
            <a:off x="436789" y="405200"/>
            <a:ext cx="11597368" cy="2386986"/>
          </a:xfrm>
          <a:prstGeom prst="rect">
            <a:avLst/>
          </a:prstGeom>
          <a:noFill/>
        </p:spPr>
        <p:txBody>
          <a:bodyPr wrap="square">
            <a:spAutoFit/>
          </a:bodyPr>
          <a:lstStyle/>
          <a:p>
            <a:pPr marR="0" lvl="0" eaLnBrk="1" fontAlgn="base" hangingPunct="1">
              <a:lnSpc>
                <a:spcPct val="90000"/>
              </a:lnSpc>
              <a:spcBef>
                <a:spcPct val="0"/>
              </a:spcBef>
              <a:spcAft>
                <a:spcPts val="600"/>
              </a:spcAft>
              <a:buClrTx/>
              <a:buSzTx/>
              <a:tabLst/>
            </a:pPr>
            <a:r>
              <a:rPr kumimoji="0" lang="en-US" altLang="en-US" sz="1800" b="1" i="0" u="none" strike="noStrike" cap="none" normalizeH="0" baseline="0" dirty="0">
                <a:ln>
                  <a:noFill/>
                </a:ln>
                <a:effectLst/>
                <a:latin typeface="+mn-lt"/>
              </a:rPr>
              <a:t>What is an Azure Region</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effectLst/>
                <a:latin typeface="+mn-lt"/>
              </a:rPr>
              <a:t>Simply put, an Azure Region is a set of Datacenters that are connected through a dedicated low-latency network. How many datacenters does a region contain. Well, we do not have a fixed number. It varies. There are regions of different sizes. A Region could be made up of just 1 </a:t>
            </a:r>
            <a:r>
              <a:rPr kumimoji="0" lang="en-US" altLang="en-US" sz="1800" b="0" i="0" u="none" strike="noStrike" cap="none" normalizeH="0" baseline="0" dirty="0" err="1">
                <a:ln>
                  <a:noFill/>
                </a:ln>
                <a:effectLst/>
                <a:latin typeface="+mn-lt"/>
              </a:rPr>
              <a:t>dataceneter</a:t>
            </a:r>
            <a:r>
              <a:rPr kumimoji="0" lang="en-US" altLang="en-US" sz="1800" b="0" i="0" u="none" strike="noStrike" cap="none" normalizeH="0" baseline="0" dirty="0">
                <a:ln>
                  <a:noFill/>
                </a:ln>
                <a:effectLst/>
                <a:latin typeface="+mn-lt"/>
              </a:rPr>
              <a:t> or multiple datacenters. The point is, an Azure Region is a group of one or more Azure Datacenters. As of this course recording, Azure has 58 regions worldwide.</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effectLst/>
                <a:latin typeface="+mn-lt"/>
              </a:rPr>
              <a:t>           </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effectLst/>
                <a:latin typeface="+mn-lt"/>
              </a:rPr>
              <a:t>You have the flexibility to deploy your applications and data to any Azure region you want. You can even deploy across multiple regions to deliver cross-region resiliency.</a:t>
            </a:r>
          </a:p>
        </p:txBody>
      </p:sp>
      <p:sp>
        <p:nvSpPr>
          <p:cNvPr id="5" name="TextBox 4">
            <a:extLst>
              <a:ext uri="{FF2B5EF4-FFF2-40B4-BE49-F238E27FC236}">
                <a16:creationId xmlns:a16="http://schemas.microsoft.com/office/drawing/2014/main" id="{27262CDD-71F6-426C-DB4B-6475E80C5A05}"/>
              </a:ext>
            </a:extLst>
          </p:cNvPr>
          <p:cNvSpPr txBox="1"/>
          <p:nvPr/>
        </p:nvSpPr>
        <p:spPr>
          <a:xfrm>
            <a:off x="306161" y="2792186"/>
            <a:ext cx="6098720" cy="369332"/>
          </a:xfrm>
          <a:prstGeom prst="rect">
            <a:avLst/>
          </a:prstGeom>
          <a:noFill/>
        </p:spPr>
        <p:txBody>
          <a:bodyPr wrap="square">
            <a:spAutoFit/>
          </a:bodyPr>
          <a:lstStyle/>
          <a:p>
            <a:pPr algn="l"/>
            <a:r>
              <a:rPr lang="en-IN" b="1" i="0" dirty="0">
                <a:solidFill>
                  <a:srgbClr val="323131"/>
                </a:solidFill>
                <a:effectLst/>
                <a:latin typeface="PT Serif" panose="020A0603040505020204" pitchFamily="18" charset="0"/>
              </a:rPr>
              <a:t>What is an Azure Availability Zone</a:t>
            </a:r>
          </a:p>
        </p:txBody>
      </p:sp>
      <p:sp>
        <p:nvSpPr>
          <p:cNvPr id="7" name="TextBox 6">
            <a:extLst>
              <a:ext uri="{FF2B5EF4-FFF2-40B4-BE49-F238E27FC236}">
                <a16:creationId xmlns:a16="http://schemas.microsoft.com/office/drawing/2014/main" id="{AE3A78F5-4B92-A831-4F65-A628FDE4EA30}"/>
              </a:ext>
            </a:extLst>
          </p:cNvPr>
          <p:cNvSpPr txBox="1"/>
          <p:nvPr/>
        </p:nvSpPr>
        <p:spPr>
          <a:xfrm>
            <a:off x="436789" y="3429000"/>
            <a:ext cx="11597368" cy="2308324"/>
          </a:xfrm>
          <a:prstGeom prst="rect">
            <a:avLst/>
          </a:prstGeom>
          <a:noFill/>
        </p:spPr>
        <p:txBody>
          <a:bodyPr wrap="square">
            <a:spAutoFit/>
          </a:bodyPr>
          <a:lstStyle/>
          <a:p>
            <a:r>
              <a:rPr lang="en-IN" b="0" i="0" dirty="0">
                <a:solidFill>
                  <a:srgbClr val="333333"/>
                </a:solidFill>
                <a:effectLst/>
                <a:latin typeface="PT Serif" panose="020A0603040505020204" pitchFamily="18" charset="0"/>
              </a:rPr>
              <a:t>An Azure Availability Zone is a unique physical location within an Azure region. Each Availability Zone is made up of one or more </a:t>
            </a:r>
            <a:r>
              <a:rPr lang="en-IN" b="0" i="0" dirty="0" err="1">
                <a:solidFill>
                  <a:srgbClr val="333333"/>
                </a:solidFill>
                <a:effectLst/>
                <a:latin typeface="PT Serif" panose="020A0603040505020204" pitchFamily="18" charset="0"/>
              </a:rPr>
              <a:t>datacenters</a:t>
            </a:r>
            <a:r>
              <a:rPr lang="en-IN" b="0" i="0" dirty="0">
                <a:solidFill>
                  <a:srgbClr val="333333"/>
                </a:solidFill>
                <a:effectLst/>
                <a:latin typeface="PT Serif" panose="020A0603040505020204" pitchFamily="18" charset="0"/>
              </a:rPr>
              <a:t> with independent power, cooling, and networking. Not all Regions have Availability Zones. Regions that support Availability Zones have a minimum of three separate zones to ensure resiliency. </a:t>
            </a:r>
          </a:p>
          <a:p>
            <a:r>
              <a:rPr lang="en-IN" b="0" i="0" dirty="0">
                <a:solidFill>
                  <a:srgbClr val="333333"/>
                </a:solidFill>
                <a:effectLst/>
                <a:latin typeface="PT Serif" panose="020A0603040505020204" pitchFamily="18" charset="0"/>
              </a:rPr>
              <a:t>If one of the Availability Zones has gone down for some reason, we still have our applications and data available from the rest of the two Availability Zones. There is a physical separation between each Availability Zone and it is this separation that protects our applications and data from </a:t>
            </a:r>
            <a:r>
              <a:rPr lang="en-IN" b="0" i="0" dirty="0" err="1">
                <a:solidFill>
                  <a:srgbClr val="333333"/>
                </a:solidFill>
                <a:effectLst/>
                <a:latin typeface="PT Serif" panose="020A0603040505020204" pitchFamily="18" charset="0"/>
              </a:rPr>
              <a:t>Datacenter</a:t>
            </a:r>
            <a:r>
              <a:rPr lang="en-IN" b="0" i="0" dirty="0">
                <a:solidFill>
                  <a:srgbClr val="333333"/>
                </a:solidFill>
                <a:effectLst/>
                <a:latin typeface="PT Serif" panose="020A0603040505020204" pitchFamily="18" charset="0"/>
              </a:rPr>
              <a:t> failures. With Availability Zones, Azure offers industry best 99.99% VM uptime SLA.</a:t>
            </a:r>
            <a:endParaRPr lang="en-IN" dirty="0"/>
          </a:p>
        </p:txBody>
      </p:sp>
      <p:sp>
        <p:nvSpPr>
          <p:cNvPr id="8" name="TextBox 7">
            <a:extLst>
              <a:ext uri="{FF2B5EF4-FFF2-40B4-BE49-F238E27FC236}">
                <a16:creationId xmlns:a16="http://schemas.microsoft.com/office/drawing/2014/main" id="{E91ABF9E-7C65-3C1A-2D62-30CD9969CF93}"/>
              </a:ext>
            </a:extLst>
          </p:cNvPr>
          <p:cNvSpPr txBox="1"/>
          <p:nvPr/>
        </p:nvSpPr>
        <p:spPr>
          <a:xfrm>
            <a:off x="436789" y="6004807"/>
            <a:ext cx="11597368" cy="646331"/>
          </a:xfrm>
          <a:prstGeom prst="rect">
            <a:avLst/>
          </a:prstGeom>
          <a:noFill/>
        </p:spPr>
        <p:txBody>
          <a:bodyPr wrap="square">
            <a:spAutoFit/>
          </a:bodyPr>
          <a:lstStyle/>
          <a:p>
            <a:pPr algn="l"/>
            <a:r>
              <a:rPr lang="en-IN" b="1" dirty="0" err="1">
                <a:solidFill>
                  <a:srgbClr val="323131"/>
                </a:solidFill>
                <a:latin typeface="PT Serif" panose="020A0603040505020204" pitchFamily="18" charset="0"/>
              </a:rPr>
              <a:t>Availabilty</a:t>
            </a:r>
            <a:r>
              <a:rPr lang="en-IN" b="1" dirty="0">
                <a:solidFill>
                  <a:srgbClr val="323131"/>
                </a:solidFill>
                <a:latin typeface="PT Serif" panose="020A0603040505020204" pitchFamily="18" charset="0"/>
              </a:rPr>
              <a:t> sets protects against hardware failures with in a </a:t>
            </a:r>
            <a:r>
              <a:rPr lang="en-IN" b="1" dirty="0" err="1">
                <a:solidFill>
                  <a:srgbClr val="323131"/>
                </a:solidFill>
                <a:latin typeface="PT Serif" panose="020A0603040505020204" pitchFamily="18" charset="0"/>
              </a:rPr>
              <a:t>dataceneter</a:t>
            </a:r>
            <a:r>
              <a:rPr lang="en-IN" b="1" dirty="0">
                <a:solidFill>
                  <a:srgbClr val="323131"/>
                </a:solidFill>
                <a:latin typeface="PT Serif" panose="020A0603040505020204" pitchFamily="18" charset="0"/>
              </a:rPr>
              <a:t>, but availability zones </a:t>
            </a:r>
            <a:r>
              <a:rPr lang="en-IN" b="1" dirty="0" err="1">
                <a:solidFill>
                  <a:srgbClr val="323131"/>
                </a:solidFill>
                <a:latin typeface="PT Serif" panose="020A0603040505020204" pitchFamily="18" charset="0"/>
              </a:rPr>
              <a:t>protes</a:t>
            </a:r>
            <a:r>
              <a:rPr lang="en-IN" b="1" dirty="0">
                <a:solidFill>
                  <a:srgbClr val="323131"/>
                </a:solidFill>
                <a:latin typeface="PT Serif" panose="020A0603040505020204" pitchFamily="18" charset="0"/>
              </a:rPr>
              <a:t> against </a:t>
            </a:r>
            <a:r>
              <a:rPr lang="en-IN" b="1" dirty="0" err="1">
                <a:solidFill>
                  <a:srgbClr val="323131"/>
                </a:solidFill>
                <a:latin typeface="PT Serif" panose="020A0603040505020204" pitchFamily="18" charset="0"/>
              </a:rPr>
              <a:t>datacenter</a:t>
            </a:r>
            <a:r>
              <a:rPr lang="en-IN" b="1" dirty="0">
                <a:solidFill>
                  <a:srgbClr val="323131"/>
                </a:solidFill>
                <a:latin typeface="PT Serif" panose="020A0603040505020204" pitchFamily="18" charset="0"/>
              </a:rPr>
              <a:t> failures within a region</a:t>
            </a:r>
            <a:endParaRPr lang="en-IN" b="1" i="0" dirty="0">
              <a:solidFill>
                <a:srgbClr val="323131"/>
              </a:solidFill>
              <a:effectLst/>
              <a:latin typeface="PT Serif" panose="020A0603040505020204" pitchFamily="18" charset="0"/>
            </a:endParaRPr>
          </a:p>
        </p:txBody>
      </p:sp>
    </p:spTree>
    <p:extLst>
      <p:ext uri="{BB962C8B-B14F-4D97-AF65-F5344CB8AC3E}">
        <p14:creationId xmlns:p14="http://schemas.microsoft.com/office/powerpoint/2010/main" val="2207131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62B98C-249E-F00E-D7D1-52CBF4F6760F}"/>
              </a:ext>
            </a:extLst>
          </p:cNvPr>
          <p:cNvSpPr txBox="1"/>
          <p:nvPr/>
        </p:nvSpPr>
        <p:spPr>
          <a:xfrm>
            <a:off x="436788" y="435819"/>
            <a:ext cx="11515725" cy="3970318"/>
          </a:xfrm>
          <a:prstGeom prst="rect">
            <a:avLst/>
          </a:prstGeom>
          <a:noFill/>
        </p:spPr>
        <p:txBody>
          <a:bodyPr wrap="square">
            <a:spAutoFit/>
          </a:bodyPr>
          <a:lstStyle/>
          <a:p>
            <a:r>
              <a:rPr lang="en-IN" b="1" i="0" dirty="0">
                <a:solidFill>
                  <a:srgbClr val="2D2F31"/>
                </a:solidFill>
                <a:effectLst/>
                <a:latin typeface="Udemy Sans"/>
              </a:rPr>
              <a:t>Describe Azure Resources and Resource Groups:</a:t>
            </a:r>
            <a:br>
              <a:rPr lang="en-IN" b="0" i="0" dirty="0">
                <a:solidFill>
                  <a:srgbClr val="2D2F31"/>
                </a:solidFill>
                <a:effectLst/>
                <a:latin typeface="Udemy Sans"/>
              </a:rPr>
            </a:br>
            <a:r>
              <a:rPr lang="en-IN" b="0" i="0" dirty="0">
                <a:solidFill>
                  <a:srgbClr val="040C28"/>
                </a:solidFill>
                <a:effectLst/>
                <a:latin typeface="Google Sans"/>
              </a:rPr>
              <a:t>Resource groups are logical containers where you can deploy and manage Azure resources like virtual machines, web apps, databases, and storage accounts</a:t>
            </a:r>
            <a:r>
              <a:rPr lang="en-IN" b="0" i="0" dirty="0">
                <a:solidFill>
                  <a:srgbClr val="1F1F1F"/>
                </a:solidFill>
                <a:effectLst/>
                <a:latin typeface="Google Sans"/>
              </a:rPr>
              <a:t>. Resources are instances of services that you can create in a resource group, such as virtual machines, storage, and SQL databases.</a:t>
            </a:r>
          </a:p>
          <a:p>
            <a:endParaRPr lang="en-IN" dirty="0">
              <a:solidFill>
                <a:srgbClr val="1F1F1F"/>
              </a:solidFill>
              <a:latin typeface="Google Sans"/>
            </a:endParaRPr>
          </a:p>
          <a:p>
            <a:r>
              <a:rPr lang="en-IN" b="1" i="0" dirty="0">
                <a:solidFill>
                  <a:srgbClr val="2D2F31"/>
                </a:solidFill>
                <a:effectLst/>
                <a:latin typeface="Udemy Sans"/>
              </a:rPr>
              <a:t> Describe Azure Subscriptions</a:t>
            </a:r>
            <a:r>
              <a:rPr lang="en-IN" b="1" i="0" dirty="0">
                <a:solidFill>
                  <a:srgbClr val="1F1F1F"/>
                </a:solidFill>
                <a:effectLst/>
                <a:latin typeface="Google Sans"/>
              </a:rPr>
              <a:t>:</a:t>
            </a:r>
          </a:p>
          <a:p>
            <a:r>
              <a:rPr lang="en-IN" b="0" i="0" dirty="0">
                <a:solidFill>
                  <a:srgbClr val="1F1F1F"/>
                </a:solidFill>
                <a:effectLst/>
                <a:latin typeface="Google Sans"/>
              </a:rPr>
              <a:t>An Azure subscription is </a:t>
            </a:r>
            <a:r>
              <a:rPr lang="en-IN" b="0" i="0" dirty="0">
                <a:solidFill>
                  <a:srgbClr val="040C28"/>
                </a:solidFill>
                <a:effectLst/>
                <a:latin typeface="Google Sans"/>
              </a:rPr>
              <a:t>a logical container used to provision related business or technical resources in Azure</a:t>
            </a:r>
            <a:r>
              <a:rPr lang="en-IN" b="0" i="0" dirty="0">
                <a:solidFill>
                  <a:srgbClr val="1F1F1F"/>
                </a:solidFill>
                <a:effectLst/>
                <a:latin typeface="Google Sans"/>
              </a:rPr>
              <a:t>. It holds the details of all your resources like virtual machines (VMs), databases, and more. When you create an Azure resource like a VM, you identify the subscription it belongs to.</a:t>
            </a:r>
            <a:br>
              <a:rPr lang="en-IN" b="0" i="0" dirty="0">
                <a:solidFill>
                  <a:srgbClr val="2D2F31"/>
                </a:solidFill>
                <a:effectLst/>
                <a:latin typeface="Udemy Sans"/>
              </a:rPr>
            </a:br>
            <a:endParaRPr lang="en-IN" b="0" i="0" dirty="0">
              <a:solidFill>
                <a:srgbClr val="2D2F31"/>
              </a:solidFill>
              <a:effectLst/>
              <a:latin typeface="Udemy Sans"/>
            </a:endParaRPr>
          </a:p>
          <a:p>
            <a:r>
              <a:rPr lang="en-IN" b="1" i="0" dirty="0">
                <a:solidFill>
                  <a:srgbClr val="2D2F31"/>
                </a:solidFill>
                <a:effectLst/>
                <a:latin typeface="Udemy Sans"/>
              </a:rPr>
              <a:t>Describe Management Groups in Azure</a:t>
            </a:r>
            <a:r>
              <a:rPr lang="en-IN" b="1" dirty="0">
                <a:solidFill>
                  <a:srgbClr val="2D2F31"/>
                </a:solidFill>
                <a:latin typeface="Udemy Sans"/>
              </a:rPr>
              <a:t>:</a:t>
            </a:r>
          </a:p>
          <a:p>
            <a:r>
              <a:rPr lang="en-IN" b="0" i="0" dirty="0">
                <a:solidFill>
                  <a:srgbClr val="474747"/>
                </a:solidFill>
                <a:effectLst/>
                <a:latin typeface="Google Sans"/>
              </a:rPr>
              <a:t>Azure management groups </a:t>
            </a:r>
            <a:r>
              <a:rPr lang="en-IN" b="0" i="0" dirty="0">
                <a:solidFill>
                  <a:srgbClr val="040C28"/>
                </a:solidFill>
                <a:effectLst/>
                <a:latin typeface="Google Sans"/>
              </a:rPr>
              <a:t>provide a level of scope above subscriptions</a:t>
            </a:r>
            <a:r>
              <a:rPr lang="en-IN" b="0" i="0" dirty="0">
                <a:solidFill>
                  <a:srgbClr val="474747"/>
                </a:solidFill>
                <a:effectLst/>
                <a:latin typeface="Google Sans"/>
              </a:rPr>
              <a:t>. You organize subscriptions into containers called management groups and apply your governance conditions to the management groups. All subscriptions within a management group automatically inherit the conditions applied to the management group.</a:t>
            </a:r>
            <a:endParaRPr lang="en-IN" dirty="0"/>
          </a:p>
        </p:txBody>
      </p:sp>
    </p:spTree>
    <p:extLst>
      <p:ext uri="{BB962C8B-B14F-4D97-AF65-F5344CB8AC3E}">
        <p14:creationId xmlns:p14="http://schemas.microsoft.com/office/powerpoint/2010/main" val="3581005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9108</TotalTime>
  <Words>3063</Words>
  <Application>Microsoft Office PowerPoint</Application>
  <PresentationFormat>Widescreen</PresentationFormat>
  <Paragraphs>180</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Aptos Display</vt:lpstr>
      <vt:lpstr>Arial</vt:lpstr>
      <vt:lpstr>Google Sans</vt:lpstr>
      <vt:lpstr>Google Sans Text</vt:lpstr>
      <vt:lpstr>PT Serif</vt:lpstr>
      <vt:lpstr>Segoe UI</vt:lpstr>
      <vt:lpstr>Udemy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Madan K Eligeti</dc:creator>
  <cp:lastModifiedBy>Madan K Eligeti</cp:lastModifiedBy>
  <cp:revision>2</cp:revision>
  <dcterms:created xsi:type="dcterms:W3CDTF">2025-01-02T07:27:58Z</dcterms:created>
  <dcterms:modified xsi:type="dcterms:W3CDTF">2025-04-17T11:18:33Z</dcterms:modified>
</cp:coreProperties>
</file>